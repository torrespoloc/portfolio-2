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1371600"/>
            <a:ext cx="11277295" cy="914400"/>
          </a:xfrm>
          <a:prstGeom prst="rect">
            <a:avLst/>
          </a:prstGeom>
          <a:noFill/>
          <a:ln/>
        </p:spPr>
        <p:txBody>
          <a:bodyPr wrap="square"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Jacki Torres</a:t>
            </a:r>
            <a:endParaRPr lang="en-US" sz="4400" dirty="0"/>
          </a:p>
        </p:txBody>
      </p:sp>
      <p:sp>
        <p:nvSpPr>
          <p:cNvPr id="3" name="Text 1"/>
          <p:cNvSpPr/>
          <p:nvPr/>
        </p:nvSpPr>
        <p:spPr>
          <a:xfrm>
            <a:off x="457200" y="2377440"/>
            <a:ext cx="11277295" cy="457200"/>
          </a:xfrm>
          <a:prstGeom prst="rect">
            <a:avLst/>
          </a:prstGeom>
          <a:noFill/>
          <a:ln/>
        </p:spPr>
        <p:txBody>
          <a:bodyPr wrap="square" rtlCol="0" anchor="ctr"/>
          <a:lstStyle/>
          <a:p>
            <a:pPr algn="l" indent="0" marL="0">
              <a:buNone/>
            </a:pPr>
            <a:r>
              <a:rPr lang="en-US" sz="1800" dirty="0">
                <a:solidFill>
                  <a:srgbClr val="BBBBBB"/>
                </a:solidFill>
                <a:latin typeface="Calibri" pitchFamily="34" charset="0"/>
                <a:ea typeface="Calibri" pitchFamily="34" charset="-122"/>
                <a:cs typeface="Calibri" pitchFamily="34" charset="-120"/>
              </a:rPr>
              <a:t>Senior Product Designer  |  Healthtech + AI</a:t>
            </a:r>
            <a:endParaRPr lang="en-US" sz="1800" dirty="0"/>
          </a:p>
        </p:txBody>
      </p:sp>
      <p:sp>
        <p:nvSpPr>
          <p:cNvPr id="4" name="Text 2"/>
          <p:cNvSpPr/>
          <p:nvPr/>
        </p:nvSpPr>
        <p:spPr>
          <a:xfrm>
            <a:off x="457200" y="2926080"/>
            <a:ext cx="11277295" cy="365760"/>
          </a:xfrm>
          <a:prstGeom prst="rect">
            <a:avLst/>
          </a:prstGeom>
          <a:noFill/>
          <a:ln/>
        </p:spPr>
        <p:txBody>
          <a:bodyPr wrap="square" rtlCol="0" anchor="ctr"/>
          <a:lstStyle/>
          <a:p>
            <a:pPr algn="l" indent="0" marL="0">
              <a:buNone/>
            </a:pPr>
            <a:r>
              <a:rPr lang="en-US" sz="1400" dirty="0">
                <a:solidFill>
                  <a:srgbClr val="999999"/>
                </a:solidFill>
                <a:latin typeface="Calibri Light" pitchFamily="34" charset="0"/>
                <a:ea typeface="Calibri Light" pitchFamily="34" charset="-122"/>
                <a:cs typeface="Calibri Light" pitchFamily="34" charset="-120"/>
              </a:rPr>
              <a:t>Portfolio Deep Dive — Jiro Health</a:t>
            </a:r>
            <a:endParaRPr lang="en-US" sz="1400" dirty="0"/>
          </a:p>
        </p:txBody>
      </p:sp>
      <p:sp>
        <p:nvSpPr>
          <p:cNvPr id="5" name="Text 3"/>
          <p:cNvSpPr/>
          <p:nvPr/>
        </p:nvSpPr>
        <p:spPr>
          <a:xfrm>
            <a:off x="457200" y="3383280"/>
            <a:ext cx="11277295" cy="274320"/>
          </a:xfrm>
          <a:prstGeom prst="rect">
            <a:avLst/>
          </a:prstGeom>
          <a:noFill/>
          <a:ln/>
        </p:spPr>
        <p:txBody>
          <a:bodyPr wrap="square" rtlCol="0" anchor="ctr"/>
          <a:lstStyle/>
          <a:p>
            <a:pPr algn="l" indent="0" marL="0">
              <a:buNone/>
            </a:pPr>
            <a:r>
              <a:rPr lang="en-US" sz="1200" dirty="0">
                <a:solidFill>
                  <a:srgbClr val="777777"/>
                </a:solidFill>
                <a:latin typeface="Calibri Light" pitchFamily="34" charset="0"/>
                <a:ea typeface="Calibri Light" pitchFamily="34" charset="-122"/>
                <a:cs typeface="Calibri Light" pitchFamily="34" charset="-120"/>
              </a:rPr>
              <a:t>May 2026</a:t>
            </a:r>
            <a:endParaRPr lang="en-US" sz="1200" dirty="0"/>
          </a:p>
        </p:txBody>
      </p:sp>
      <p:sp>
        <p:nvSpPr>
          <p:cNvPr id="6" name="Text 4"/>
          <p:cNvSpPr/>
          <p:nvPr/>
        </p:nvSpPr>
        <p:spPr>
          <a:xfrm>
            <a:off x="457200" y="6217920"/>
            <a:ext cx="11277295" cy="365760"/>
          </a:xfrm>
          <a:prstGeom prst="rect">
            <a:avLst/>
          </a:prstGeom>
          <a:noFill/>
          <a:ln/>
        </p:spPr>
        <p:txBody>
          <a:bodyPr wrap="square" rtlCol="0" anchor="ctr"/>
          <a:lstStyle/>
          <a:p>
            <a:pPr algn="l" indent="0" marL="0">
              <a:buNone/>
            </a:pPr>
            <a:r>
              <a:rPr lang="en-US" sz="1300" dirty="0">
                <a:solidFill>
                  <a:srgbClr val="888888"/>
                </a:solidFill>
                <a:latin typeface="Calibri" pitchFamily="34" charset="0"/>
                <a:ea typeface="Calibri" pitchFamily="34" charset="-122"/>
                <a:cs typeface="Calibri" pitchFamily="34" charset="-120"/>
              </a:rPr>
              <a:t>jackelinetorres.co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645920"/>
            <a:ext cx="10728655" cy="3657600"/>
          </a:xfrm>
          <a:prstGeom prst="rect">
            <a:avLst/>
          </a:prstGeom>
          <a:noFill/>
          <a:ln/>
        </p:spPr>
        <p:txBody>
          <a:bodyPr wrap="square" rtlCol="0" anchor="t"/>
          <a:lstStyle/>
          <a:p>
            <a:pPr indent="0" marL="0">
              <a:lnSpc>
                <a:spcPct val="140000"/>
              </a:lnSpc>
              <a:buNone/>
            </a:pPr>
            <a:r>
              <a:rPr lang="en-US" sz="2000" dirty="0">
                <a:solidFill>
                  <a:srgbClr val="2D2D2D"/>
                </a:solidFill>
                <a:latin typeface="Georgia" pitchFamily="34" charset="0"/>
                <a:ea typeface="Georgia" pitchFamily="34" charset="-122"/>
                <a:cs typeface="Georgia" pitchFamily="34" charset="-120"/>
              </a:rPr>
              <a:t>Architecture taught me how to think in systems.
</a:t>
            </a:r>
            <a:pPr indent="0" marL="0">
              <a:lnSpc>
                <a:spcPct val="140000"/>
              </a:lnSpc>
              <a:buNone/>
            </a:pPr>
            <a:r>
              <a:rPr lang="en-US" sz="2000" dirty="0">
                <a:solidFill>
                  <a:srgbClr val="3B3066"/>
                </a:solidFill>
                <a:latin typeface="Georgia" pitchFamily="34" charset="0"/>
                <a:ea typeface="Georgia" pitchFamily="34" charset="-122"/>
                <a:cs typeface="Georgia" pitchFamily="34" charset="-120"/>
              </a:rPr>
              <a:t>Product design taught me how to ship them.
</a:t>
            </a:r>
            <a:pPr indent="0" marL="0">
              <a:lnSpc>
                <a:spcPct val="140000"/>
              </a:lnSpc>
              <a:buNone/>
            </a:pPr>
            <a:r>
              <a:rPr lang="en-US" sz="2000" dirty="0">
                <a:solidFill>
                  <a:srgbClr val="2D2D2D"/>
                </a:solidFill>
                <a:latin typeface="Georgia" pitchFamily="34" charset="0"/>
                <a:ea typeface="Georgia" pitchFamily="34" charset="-122"/>
                <a:cs typeface="Georgia" pitchFamily="34" charset="-120"/>
              </a:rPr>
              <a:t>Healthtech and AI taught me what's actually at stake.
</a:t>
            </a:r>
            <a:pPr indent="0" marL="0">
              <a:lnSpc>
                <a:spcPct val="135000"/>
              </a:lnSpc>
              <a:buNone/>
            </a:pPr>
            <a:r>
              <a:rPr lang="en-US" sz="1500" dirty="0">
                <a:solidFill>
                  <a:srgbClr val="888888"/>
                </a:solidFill>
                <a:latin typeface="Calibri" pitchFamily="34" charset="0"/>
                <a:ea typeface="Calibri" pitchFamily="34" charset="-122"/>
                <a:cs typeface="Calibri" pitchFamily="34" charset="-120"/>
              </a:rPr>
              <a:t>I've been the sole designer twice — at early-stage startups, working directly with CPOs, building from zero in environments where the foundation didn't exist yet.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Why I care about this space</a:t>
            </a:r>
            <a:endParaRPr lang="en-US" sz="3600" dirty="0"/>
          </a:p>
        </p:txBody>
      </p:sp>
      <p:sp>
        <p:nvSpPr>
          <p:cNvPr id="3" name="Text 1"/>
          <p:cNvSpPr/>
          <p:nvPr/>
        </p:nvSpPr>
        <p:spPr>
          <a:xfrm>
            <a:off x="457200" y="1280160"/>
            <a:ext cx="11277295" cy="4846320"/>
          </a:xfrm>
          <a:prstGeom prst="rect">
            <a:avLst/>
          </a:prstGeom>
          <a:noFill/>
          <a:ln/>
        </p:spPr>
        <p:txBody>
          <a:bodyPr wrap="square" rtlCol="0" anchor="t"/>
          <a:lstStyle/>
          <a:p>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My grandmother and mother don't speak English. For most of my life I've been their translator in healthcare settings — appointments, phone calls, discharge instructions, prescriptions.
</a:t>
            </a:r>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That's not a niche problem. It's a systemic one. And it's what pushed me toward healthtech.
</a:t>
            </a:r>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I'm currently building a live voice transcription and translation app for non-English speakers in clinical settings. Not as a side project — as a design conviction.
</a:t>
            </a:r>
            <a:pPr indent="0" marL="0">
              <a:lnSpc>
                <a:spcPct val="135000"/>
              </a:lnSpc>
              <a:buNone/>
            </a:pPr>
            <a:r>
              <a:rPr lang="en-US" sz="1600" b="1" dirty="0">
                <a:solidFill>
                  <a:srgbClr val="3B3066"/>
                </a:solidFill>
                <a:latin typeface="Calibri" pitchFamily="34" charset="0"/>
                <a:ea typeface="Calibri" pitchFamily="34" charset="-122"/>
                <a:cs typeface="Calibri" pitchFamily="34" charset="-120"/>
              </a:rPr>
              <a:t>Healthcare software has a trust problem, a complexity problem, and a communication problem. That's exactly where I want to 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How I work</a:t>
            </a:r>
            <a:endParaRPr lang="en-US" sz="3600" dirty="0"/>
          </a:p>
        </p:txBody>
      </p:sp>
      <p:sp>
        <p:nvSpPr>
          <p:cNvPr id="3" name="Text 1"/>
          <p:cNvSpPr/>
          <p:nvPr/>
        </p:nvSpPr>
        <p:spPr>
          <a:xfrm>
            <a:off x="457200" y="777240"/>
            <a:ext cx="11277295" cy="320040"/>
          </a:xfrm>
          <a:prstGeom prst="rect">
            <a:avLst/>
          </a:prstGeom>
          <a:noFill/>
          <a:ln/>
        </p:spPr>
        <p:txBody>
          <a:bodyPr wrap="square" rtlCol="0" anchor="ctr"/>
          <a:lstStyle/>
          <a:p>
            <a:pPr indent="0" marL="0">
              <a:buNone/>
            </a:pPr>
            <a:r>
              <a:rPr lang="en-US" sz="1200" dirty="0">
                <a:solidFill>
                  <a:srgbClr val="888888"/>
                </a:solidFill>
                <a:latin typeface="Calibri Light" pitchFamily="34" charset="0"/>
                <a:ea typeface="Calibri Light" pitchFamily="34" charset="-122"/>
                <a:cs typeface="Calibri Light" pitchFamily="34" charset="-120"/>
              </a:rPr>
              <a:t>Four things that don't change regardless of the project</a:t>
            </a:r>
            <a:endParaRPr lang="en-US" sz="1200" dirty="0"/>
          </a:p>
        </p:txBody>
      </p:sp>
      <p:sp>
        <p:nvSpPr>
          <p:cNvPr id="4" name="Shape 2"/>
          <p:cNvSpPr/>
          <p:nvPr/>
        </p:nvSpPr>
        <p:spPr>
          <a:xfrm>
            <a:off x="457200" y="1371600"/>
            <a:ext cx="11277295" cy="1097280"/>
          </a:xfrm>
          <a:prstGeom prst="rect">
            <a:avLst>
              <a:gd name="adj" fmla="val 8333"/>
            </a:avLst>
          </a:prstGeom>
          <a:solidFill>
            <a:srgbClr val="F5F4F0"/>
          </a:solidFill>
          <a:ln/>
        </p:spPr>
      </p:sp>
      <p:sp>
        <p:nvSpPr>
          <p:cNvPr id="5" name="Text 3"/>
          <p:cNvSpPr/>
          <p:nvPr/>
        </p:nvSpPr>
        <p:spPr>
          <a:xfrm>
            <a:off x="731520" y="1463040"/>
            <a:ext cx="10728655" cy="320040"/>
          </a:xfrm>
          <a:prstGeom prst="rect">
            <a:avLst/>
          </a:prstGeom>
          <a:noFill/>
          <a:ln/>
        </p:spPr>
        <p:txBody>
          <a:bodyPr wrap="square" rtlCol="0" anchor="t"/>
          <a:lstStyle/>
          <a:p>
            <a:pPr algn="l" indent="0" marL="0">
              <a:buNone/>
            </a:pPr>
            <a:r>
              <a:rPr lang="en-US" sz="1400" b="1" dirty="0">
                <a:solidFill>
                  <a:srgbClr val="3B3066"/>
                </a:solidFill>
                <a:latin typeface="Calibri" pitchFamily="34" charset="0"/>
                <a:ea typeface="Calibri" pitchFamily="34" charset="-122"/>
                <a:cs typeface="Calibri" pitchFamily="34" charset="-120"/>
              </a:rPr>
              <a:t>Foundation before velocity</a:t>
            </a:r>
            <a:endParaRPr lang="en-US" sz="1400" dirty="0"/>
          </a:p>
        </p:txBody>
      </p:sp>
      <p:sp>
        <p:nvSpPr>
          <p:cNvPr id="6" name="Text 4"/>
          <p:cNvSpPr/>
          <p:nvPr/>
        </p:nvSpPr>
        <p:spPr>
          <a:xfrm>
            <a:off x="731520" y="1783080"/>
            <a:ext cx="10728655" cy="59436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If the design system, the component library, and the handoff process aren't solid, you pay for it on every sprint. I build the rails first.</a:t>
            </a:r>
            <a:endParaRPr lang="en-US" sz="1250" dirty="0"/>
          </a:p>
        </p:txBody>
      </p:sp>
      <p:sp>
        <p:nvSpPr>
          <p:cNvPr id="7" name="Shape 5"/>
          <p:cNvSpPr/>
          <p:nvPr/>
        </p:nvSpPr>
        <p:spPr>
          <a:xfrm>
            <a:off x="457200" y="2697480"/>
            <a:ext cx="11277295" cy="1097280"/>
          </a:xfrm>
          <a:prstGeom prst="rect">
            <a:avLst>
              <a:gd name="adj" fmla="val 8333"/>
            </a:avLst>
          </a:prstGeom>
          <a:solidFill>
            <a:srgbClr val="F5F4F0"/>
          </a:solidFill>
          <a:ln/>
        </p:spPr>
      </p:sp>
      <p:sp>
        <p:nvSpPr>
          <p:cNvPr id="8" name="Text 6"/>
          <p:cNvSpPr/>
          <p:nvPr/>
        </p:nvSpPr>
        <p:spPr>
          <a:xfrm>
            <a:off x="731520" y="2788920"/>
            <a:ext cx="10728655" cy="320040"/>
          </a:xfrm>
          <a:prstGeom prst="rect">
            <a:avLst/>
          </a:prstGeom>
          <a:noFill/>
          <a:ln/>
        </p:spPr>
        <p:txBody>
          <a:bodyPr wrap="square" rtlCol="0" anchor="t"/>
          <a:lstStyle/>
          <a:p>
            <a:pPr algn="l" indent="0" marL="0">
              <a:buNone/>
            </a:pPr>
            <a:r>
              <a:rPr lang="en-US" sz="1400" b="1" dirty="0">
                <a:solidFill>
                  <a:srgbClr val="3B3066"/>
                </a:solidFill>
                <a:latin typeface="Calibri" pitchFamily="34" charset="0"/>
                <a:ea typeface="Calibri" pitchFamily="34" charset="-122"/>
                <a:cs typeface="Calibri" pitchFamily="34" charset="-120"/>
              </a:rPr>
              <a:t>Design and code in lockstep</a:t>
            </a:r>
            <a:endParaRPr lang="en-US" sz="1400" dirty="0"/>
          </a:p>
        </p:txBody>
      </p:sp>
      <p:sp>
        <p:nvSpPr>
          <p:cNvPr id="9" name="Text 7"/>
          <p:cNvSpPr/>
          <p:nvPr/>
        </p:nvSpPr>
        <p:spPr>
          <a:xfrm>
            <a:off x="731520" y="3108960"/>
            <a:ext cx="10728655" cy="59436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I don't throw files over a wall. I work in the same tools as engineers, speak the same language, and make sure what's in Figma exists in code — and vice versa.</a:t>
            </a:r>
            <a:endParaRPr lang="en-US" sz="1250" dirty="0"/>
          </a:p>
        </p:txBody>
      </p:sp>
      <p:sp>
        <p:nvSpPr>
          <p:cNvPr id="10" name="Shape 8"/>
          <p:cNvSpPr/>
          <p:nvPr/>
        </p:nvSpPr>
        <p:spPr>
          <a:xfrm>
            <a:off x="457200" y="4023360"/>
            <a:ext cx="11277295" cy="1097280"/>
          </a:xfrm>
          <a:prstGeom prst="rect">
            <a:avLst>
              <a:gd name="adj" fmla="val 8333"/>
            </a:avLst>
          </a:prstGeom>
          <a:solidFill>
            <a:srgbClr val="F5F4F0"/>
          </a:solidFill>
          <a:ln/>
        </p:spPr>
      </p:sp>
      <p:sp>
        <p:nvSpPr>
          <p:cNvPr id="11" name="Text 9"/>
          <p:cNvSpPr/>
          <p:nvPr/>
        </p:nvSpPr>
        <p:spPr>
          <a:xfrm>
            <a:off x="731520" y="4114800"/>
            <a:ext cx="10728655" cy="320040"/>
          </a:xfrm>
          <a:prstGeom prst="rect">
            <a:avLst/>
          </a:prstGeom>
          <a:noFill/>
          <a:ln/>
        </p:spPr>
        <p:txBody>
          <a:bodyPr wrap="square" rtlCol="0" anchor="t"/>
          <a:lstStyle/>
          <a:p>
            <a:pPr algn="l" indent="0" marL="0">
              <a:buNone/>
            </a:pPr>
            <a:r>
              <a:rPr lang="en-US" sz="1400" b="1" dirty="0">
                <a:solidFill>
                  <a:srgbClr val="3B3066"/>
                </a:solidFill>
                <a:latin typeface="Calibri" pitchFamily="34" charset="0"/>
                <a:ea typeface="Calibri" pitchFamily="34" charset="-122"/>
                <a:cs typeface="Calibri" pitchFamily="34" charset="-120"/>
              </a:rPr>
              <a:t>Problem definition is not optional</a:t>
            </a:r>
            <a:endParaRPr lang="en-US" sz="1400" dirty="0"/>
          </a:p>
        </p:txBody>
      </p:sp>
      <p:sp>
        <p:nvSpPr>
          <p:cNvPr id="12" name="Text 10"/>
          <p:cNvSpPr/>
          <p:nvPr/>
        </p:nvSpPr>
        <p:spPr>
          <a:xfrm>
            <a:off x="731520" y="4434840"/>
            <a:ext cx="10728655" cy="59436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I push back on jumping to solutions. Not to slow things down, but because the wrong solution built fast is still the wrong solution.</a:t>
            </a:r>
            <a:endParaRPr lang="en-US" sz="1250" dirty="0"/>
          </a:p>
        </p:txBody>
      </p:sp>
      <p:sp>
        <p:nvSpPr>
          <p:cNvPr id="13" name="Shape 11"/>
          <p:cNvSpPr/>
          <p:nvPr/>
        </p:nvSpPr>
        <p:spPr>
          <a:xfrm>
            <a:off x="457200" y="5349240"/>
            <a:ext cx="11277295" cy="1097280"/>
          </a:xfrm>
          <a:prstGeom prst="rect">
            <a:avLst>
              <a:gd name="adj" fmla="val 8333"/>
            </a:avLst>
          </a:prstGeom>
          <a:solidFill>
            <a:srgbClr val="F5F4F0"/>
          </a:solidFill>
          <a:ln/>
        </p:spPr>
      </p:sp>
      <p:sp>
        <p:nvSpPr>
          <p:cNvPr id="14" name="Text 12"/>
          <p:cNvSpPr/>
          <p:nvPr/>
        </p:nvSpPr>
        <p:spPr>
          <a:xfrm>
            <a:off x="731520" y="5440680"/>
            <a:ext cx="10728655" cy="320040"/>
          </a:xfrm>
          <a:prstGeom prst="rect">
            <a:avLst/>
          </a:prstGeom>
          <a:noFill/>
          <a:ln/>
        </p:spPr>
        <p:txBody>
          <a:bodyPr wrap="square" rtlCol="0" anchor="t"/>
          <a:lstStyle/>
          <a:p>
            <a:pPr algn="l" indent="0" marL="0">
              <a:buNone/>
            </a:pPr>
            <a:r>
              <a:rPr lang="en-US" sz="1400" b="1" dirty="0">
                <a:solidFill>
                  <a:srgbClr val="3B3066"/>
                </a:solidFill>
                <a:latin typeface="Calibri" pitchFamily="34" charset="0"/>
                <a:ea typeface="Calibri" pitchFamily="34" charset="-122"/>
                <a:cs typeface="Calibri" pitchFamily="34" charset="-120"/>
              </a:rPr>
              <a:t>Feedback loops as infrastructure</a:t>
            </a:r>
            <a:endParaRPr lang="en-US" sz="1400" dirty="0"/>
          </a:p>
        </p:txBody>
      </p:sp>
      <p:sp>
        <p:nvSpPr>
          <p:cNvPr id="15" name="Text 13"/>
          <p:cNvSpPr/>
          <p:nvPr/>
        </p:nvSpPr>
        <p:spPr>
          <a:xfrm>
            <a:off x="731520" y="5760720"/>
            <a:ext cx="10728655" cy="59436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User research has to be a habit. Fast, lightweight, and tied directly to what ships next.</a:t>
            </a:r>
            <a:endParaRPr lang="en-US" sz="1250" dirty="0"/>
          </a:p>
        </p:txBody>
      </p:sp>
      <p:pic>
        <p:nvPicPr>
          <p:cNvPr id="16" name="Image 0" descr="/Users/jacki/Documents/My-vault/My-projects/portfolio-2/public/logos/figma.png">    </p:cNvPr>
          <p:cNvPicPr>
            <a:picLocks noChangeAspect="1"/>
          </p:cNvPicPr>
          <p:nvPr/>
        </p:nvPicPr>
        <p:blipFill>
          <a:blip r:embed="rId1"/>
          <a:srcRect l="0" r="0" t="0" b="0"/>
          <a:stretch/>
        </p:blipFill>
        <p:spPr>
          <a:xfrm>
            <a:off x="4244188" y="6217920"/>
            <a:ext cx="502920" cy="301752"/>
          </a:xfrm>
          <a:prstGeom prst="rect">
            <a:avLst/>
          </a:prstGeom>
        </p:spPr>
      </p:pic>
      <p:pic>
        <p:nvPicPr>
          <p:cNvPr id="17" name="Image 1" descr="/Users/jacki/Documents/My-vault/My-projects/portfolio-2/public/logos/claude-code.png">    </p:cNvPr>
          <p:cNvPicPr>
            <a:picLocks noChangeAspect="1"/>
          </p:cNvPicPr>
          <p:nvPr/>
        </p:nvPicPr>
        <p:blipFill>
          <a:blip r:embed="rId2"/>
          <a:srcRect l="0" r="0" t="0" b="0"/>
          <a:stretch/>
        </p:blipFill>
        <p:spPr>
          <a:xfrm>
            <a:off x="4884268" y="6217920"/>
            <a:ext cx="502920" cy="301752"/>
          </a:xfrm>
          <a:prstGeom prst="rect">
            <a:avLst/>
          </a:prstGeom>
        </p:spPr>
      </p:pic>
      <p:pic>
        <p:nvPicPr>
          <p:cNvPr id="18" name="Image 2" descr="/Users/jacki/Documents/My-vault/My-projects/portfolio-2/public/logos/claude-chat.png">    </p:cNvPr>
          <p:cNvPicPr>
            <a:picLocks noChangeAspect="1"/>
          </p:cNvPicPr>
          <p:nvPr/>
        </p:nvPicPr>
        <p:blipFill>
          <a:blip r:embed="rId3"/>
          <a:srcRect l="0" r="0" t="0" b="0"/>
          <a:stretch/>
        </p:blipFill>
        <p:spPr>
          <a:xfrm>
            <a:off x="5524348" y="6217920"/>
            <a:ext cx="502920" cy="301752"/>
          </a:xfrm>
          <a:prstGeom prst="rect">
            <a:avLst/>
          </a:prstGeom>
        </p:spPr>
      </p:pic>
      <p:pic>
        <p:nvPicPr>
          <p:cNvPr id="19" name="Image 3" descr="/Users/jacki/Documents/My-vault/My-projects/portfolio-2/public/logos/cursor.png">    </p:cNvPr>
          <p:cNvPicPr>
            <a:picLocks noChangeAspect="1"/>
          </p:cNvPicPr>
          <p:nvPr/>
        </p:nvPicPr>
        <p:blipFill>
          <a:blip r:embed="rId4"/>
          <a:srcRect l="0" r="0" t="0" b="0"/>
          <a:stretch/>
        </p:blipFill>
        <p:spPr>
          <a:xfrm>
            <a:off x="6164428" y="6217920"/>
            <a:ext cx="502920" cy="301752"/>
          </a:xfrm>
          <a:prstGeom prst="rect">
            <a:avLst/>
          </a:prstGeom>
        </p:spPr>
      </p:pic>
      <p:pic>
        <p:nvPicPr>
          <p:cNvPr id="20" name="Image 4" descr="/Users/jacki/Documents/My-vault/My-projects/portfolio-2/public/logos/storybook.sv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6804508" y="6217920"/>
            <a:ext cx="502920" cy="301752"/>
          </a:xfrm>
          <a:prstGeom prst="rect">
            <a:avLst/>
          </a:prstGeom>
        </p:spPr>
      </p:pic>
      <p:pic>
        <p:nvPicPr>
          <p:cNvPr id="21" name="Image 5" descr="/Users/jacki/Documents/My-vault/My-projects/portfolio-2/public/logos/linear.sv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7444588" y="6217920"/>
            <a:ext cx="502920" cy="3017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Why Jiro, why now</a:t>
            </a:r>
            <a:endParaRPr lang="en-US" sz="3600" dirty="0"/>
          </a:p>
        </p:txBody>
      </p:sp>
      <p:sp>
        <p:nvSpPr>
          <p:cNvPr id="3" name="Text 1"/>
          <p:cNvSpPr/>
          <p:nvPr/>
        </p:nvSpPr>
        <p:spPr>
          <a:xfrm>
            <a:off x="457200" y="1280160"/>
            <a:ext cx="11277295" cy="4846320"/>
          </a:xfrm>
          <a:prstGeom prst="rect">
            <a:avLst/>
          </a:prstGeom>
          <a:noFill/>
          <a:ln/>
        </p:spPr>
        <p:txBody>
          <a:bodyPr wrap="square" rtlCol="0" anchor="t"/>
          <a:lstStyle/>
          <a:p>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Jiro is giving individual clinicians access to practice intelligence that's usually locked inside larger health systems. That's an equity problem disguised as a data problem — and it's the kind of problem worth solving.
</a:t>
            </a:r>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When I talked to Chris, I heard something I recognized immediately: a team moving fast, shipping real product, but without enough time to build the foundation underneath. Design system and code out of sync. Research function not yet established. Process that's more hodgepodge than habit.
</a:t>
            </a:r>
            <a:pPr indent="0" marL="0">
              <a:lnSpc>
                <a:spcPct val="135000"/>
              </a:lnSpc>
              <a:buNone/>
            </a:pPr>
            <a:r>
              <a:rPr lang="en-US" sz="1500" dirty="0">
                <a:solidFill>
                  <a:srgbClr val="2D2D2D"/>
                </a:solidFill>
                <a:latin typeface="Calibri" pitchFamily="34" charset="0"/>
                <a:ea typeface="Calibri" pitchFamily="34" charset="-122"/>
                <a:cs typeface="Calibri" pitchFamily="34" charset="-120"/>
              </a:rPr>
              <a:t>I've been in that exact situation — twice. I know how to fix it without slowing the team down.
</a:t>
            </a:r>
            <a:pPr indent="0" marL="0">
              <a:lnSpc>
                <a:spcPct val="135000"/>
              </a:lnSpc>
              <a:buNone/>
            </a:pPr>
            <a:r>
              <a:rPr lang="en-US" sz="1600" b="1" dirty="0">
                <a:solidFill>
                  <a:srgbClr val="3B3066"/>
                </a:solidFill>
                <a:latin typeface="Calibri" pitchFamily="34" charset="0"/>
                <a:ea typeface="Calibri" pitchFamily="34" charset="-122"/>
                <a:cs typeface="Calibri" pitchFamily="34" charset="-120"/>
              </a:rPr>
              <a:t>Pre-scale, post-MVP is exactly the moment where getting the foundation right determines how fast you can move for the next two years.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First 90 days</a:t>
            </a:r>
            <a:endParaRPr lang="en-US" sz="3600" dirty="0"/>
          </a:p>
        </p:txBody>
      </p:sp>
      <p:sp>
        <p:nvSpPr>
          <p:cNvPr id="3" name="Text 1"/>
          <p:cNvSpPr/>
          <p:nvPr/>
        </p:nvSpPr>
        <p:spPr>
          <a:xfrm>
            <a:off x="457200" y="777240"/>
            <a:ext cx="11277295" cy="320040"/>
          </a:xfrm>
          <a:prstGeom prst="rect">
            <a:avLst/>
          </a:prstGeom>
          <a:noFill/>
          <a:ln/>
        </p:spPr>
        <p:txBody>
          <a:bodyPr wrap="square" rtlCol="0" anchor="ctr"/>
          <a:lstStyle/>
          <a:p>
            <a:pPr indent="0" marL="0">
              <a:buNone/>
            </a:pPr>
            <a:r>
              <a:rPr lang="en-US" sz="1200" dirty="0">
                <a:solidFill>
                  <a:srgbClr val="888888"/>
                </a:solidFill>
                <a:latin typeface="Calibri Light" pitchFamily="34" charset="0"/>
                <a:ea typeface="Calibri Light" pitchFamily="34" charset="-122"/>
                <a:cs typeface="Calibri Light" pitchFamily="34" charset="-120"/>
              </a:rPr>
              <a:t>How I'd approach it</a:t>
            </a:r>
            <a:endParaRPr lang="en-US" sz="1200" dirty="0"/>
          </a:p>
        </p:txBody>
      </p:sp>
      <p:sp>
        <p:nvSpPr>
          <p:cNvPr id="4" name="Shape 2"/>
          <p:cNvSpPr/>
          <p:nvPr/>
        </p:nvSpPr>
        <p:spPr>
          <a:xfrm>
            <a:off x="457200" y="1280160"/>
            <a:ext cx="54864" cy="1371600"/>
          </a:xfrm>
          <a:prstGeom prst="rect">
            <a:avLst/>
          </a:prstGeom>
          <a:solidFill>
            <a:srgbClr val="3B3066"/>
          </a:solidFill>
          <a:ln/>
        </p:spPr>
      </p:sp>
      <p:sp>
        <p:nvSpPr>
          <p:cNvPr id="5" name="Shape 3"/>
          <p:cNvSpPr/>
          <p:nvPr/>
        </p:nvSpPr>
        <p:spPr>
          <a:xfrm>
            <a:off x="512064" y="1280160"/>
            <a:ext cx="11222431" cy="1371600"/>
          </a:xfrm>
          <a:prstGeom prst="rect">
            <a:avLst/>
          </a:prstGeom>
          <a:solidFill>
            <a:srgbClr val="F5F4F0"/>
          </a:solidFill>
          <a:ln/>
        </p:spPr>
      </p:sp>
      <p:sp>
        <p:nvSpPr>
          <p:cNvPr id="6" name="Text 4"/>
          <p:cNvSpPr/>
          <p:nvPr/>
        </p:nvSpPr>
        <p:spPr>
          <a:xfrm>
            <a:off x="685800" y="1353312"/>
            <a:ext cx="1097280" cy="274320"/>
          </a:xfrm>
          <a:prstGeom prst="rect">
            <a:avLst/>
          </a:prstGeom>
          <a:noFill/>
          <a:ln/>
        </p:spPr>
        <p:txBody>
          <a:bodyPr wrap="square" rtlCol="0" anchor="t"/>
          <a:lstStyle/>
          <a:p>
            <a:pPr algn="l" indent="0" marL="0">
              <a:buNone/>
            </a:pPr>
            <a:r>
              <a:rPr lang="en-US" sz="1100" b="1" dirty="0">
                <a:solidFill>
                  <a:srgbClr val="3B3066"/>
                </a:solidFill>
                <a:latin typeface="Calibri" pitchFamily="34" charset="0"/>
                <a:ea typeface="Calibri" pitchFamily="34" charset="-122"/>
                <a:cs typeface="Calibri" pitchFamily="34" charset="-120"/>
              </a:rPr>
              <a:t>Days 1–30</a:t>
            </a:r>
            <a:endParaRPr lang="en-US" sz="1100" dirty="0"/>
          </a:p>
        </p:txBody>
      </p:sp>
      <p:sp>
        <p:nvSpPr>
          <p:cNvPr id="7" name="Text 5"/>
          <p:cNvSpPr/>
          <p:nvPr/>
        </p:nvSpPr>
        <p:spPr>
          <a:xfrm>
            <a:off x="685800" y="1600200"/>
            <a:ext cx="10820095" cy="274320"/>
          </a:xfrm>
          <a:prstGeom prst="rect">
            <a:avLst/>
          </a:prstGeom>
          <a:noFill/>
          <a:ln/>
        </p:spPr>
        <p:txBody>
          <a:bodyPr wrap="square" rtlCol="0" anchor="t"/>
          <a:lstStyle/>
          <a:p>
            <a:pPr algn="l" indent="0" marL="0">
              <a:buNone/>
            </a:pPr>
            <a:r>
              <a:rPr lang="en-US" sz="1500" b="1" dirty="0">
                <a:solidFill>
                  <a:srgbClr val="2D2D2D"/>
                </a:solidFill>
                <a:latin typeface="Georgia" pitchFamily="34" charset="0"/>
                <a:ea typeface="Georgia" pitchFamily="34" charset="-122"/>
                <a:cs typeface="Georgia" pitchFamily="34" charset="-120"/>
              </a:rPr>
              <a:t>Audit and align</a:t>
            </a:r>
            <a:endParaRPr lang="en-US" sz="1500" dirty="0"/>
          </a:p>
        </p:txBody>
      </p:sp>
      <p:sp>
        <p:nvSpPr>
          <p:cNvPr id="8" name="Text 6"/>
          <p:cNvSpPr/>
          <p:nvPr/>
        </p:nvSpPr>
        <p:spPr>
          <a:xfrm>
            <a:off x="685800" y="1920240"/>
            <a:ext cx="10820095" cy="64008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Map every component in Figma against what exists in code. Document the gaps. Ship one quick win that proves design and engineering can move in lockstep.</a:t>
            </a:r>
            <a:endParaRPr lang="en-US" sz="1250" dirty="0"/>
          </a:p>
        </p:txBody>
      </p:sp>
      <p:sp>
        <p:nvSpPr>
          <p:cNvPr id="9" name="Shape 7"/>
          <p:cNvSpPr/>
          <p:nvPr/>
        </p:nvSpPr>
        <p:spPr>
          <a:xfrm>
            <a:off x="457200" y="2926080"/>
            <a:ext cx="54864" cy="1371600"/>
          </a:xfrm>
          <a:prstGeom prst="rect">
            <a:avLst/>
          </a:prstGeom>
          <a:solidFill>
            <a:srgbClr val="3B3066"/>
          </a:solidFill>
          <a:ln/>
        </p:spPr>
      </p:sp>
      <p:sp>
        <p:nvSpPr>
          <p:cNvPr id="10" name="Shape 8"/>
          <p:cNvSpPr/>
          <p:nvPr/>
        </p:nvSpPr>
        <p:spPr>
          <a:xfrm>
            <a:off x="512064" y="2926080"/>
            <a:ext cx="11222431" cy="1371600"/>
          </a:xfrm>
          <a:prstGeom prst="rect">
            <a:avLst/>
          </a:prstGeom>
          <a:solidFill>
            <a:srgbClr val="F5F4F0"/>
          </a:solidFill>
          <a:ln/>
        </p:spPr>
      </p:sp>
      <p:sp>
        <p:nvSpPr>
          <p:cNvPr id="11" name="Text 9"/>
          <p:cNvSpPr/>
          <p:nvPr/>
        </p:nvSpPr>
        <p:spPr>
          <a:xfrm>
            <a:off x="685800" y="2999232"/>
            <a:ext cx="1097280" cy="274320"/>
          </a:xfrm>
          <a:prstGeom prst="rect">
            <a:avLst/>
          </a:prstGeom>
          <a:noFill/>
          <a:ln/>
        </p:spPr>
        <p:txBody>
          <a:bodyPr wrap="square" rtlCol="0" anchor="t"/>
          <a:lstStyle/>
          <a:p>
            <a:pPr algn="l" indent="0" marL="0">
              <a:buNone/>
            </a:pPr>
            <a:r>
              <a:rPr lang="en-US" sz="1100" b="1" dirty="0">
                <a:solidFill>
                  <a:srgbClr val="3B3066"/>
                </a:solidFill>
                <a:latin typeface="Calibri" pitchFamily="34" charset="0"/>
                <a:ea typeface="Calibri" pitchFamily="34" charset="-122"/>
                <a:cs typeface="Calibri" pitchFamily="34" charset="-120"/>
              </a:rPr>
              <a:t>Days 31–60</a:t>
            </a:r>
            <a:endParaRPr lang="en-US" sz="1100" dirty="0"/>
          </a:p>
        </p:txBody>
      </p:sp>
      <p:sp>
        <p:nvSpPr>
          <p:cNvPr id="12" name="Text 10"/>
          <p:cNvSpPr/>
          <p:nvPr/>
        </p:nvSpPr>
        <p:spPr>
          <a:xfrm>
            <a:off x="685800" y="3246120"/>
            <a:ext cx="10820095" cy="274320"/>
          </a:xfrm>
          <a:prstGeom prst="rect">
            <a:avLst/>
          </a:prstGeom>
          <a:noFill/>
          <a:ln/>
        </p:spPr>
        <p:txBody>
          <a:bodyPr wrap="square" rtlCol="0" anchor="t"/>
          <a:lstStyle/>
          <a:p>
            <a:pPr algn="l" indent="0" marL="0">
              <a:buNone/>
            </a:pPr>
            <a:r>
              <a:rPr lang="en-US" sz="1500" b="1" dirty="0">
                <a:solidFill>
                  <a:srgbClr val="2D2D2D"/>
                </a:solidFill>
                <a:latin typeface="Georgia" pitchFamily="34" charset="0"/>
                <a:ea typeface="Georgia" pitchFamily="34" charset="-122"/>
                <a:cs typeface="Georgia" pitchFamily="34" charset="-120"/>
              </a:rPr>
              <a:t>Install the feedback loop</a:t>
            </a:r>
            <a:endParaRPr lang="en-US" sz="1500" dirty="0"/>
          </a:p>
        </p:txBody>
      </p:sp>
      <p:sp>
        <p:nvSpPr>
          <p:cNvPr id="13" name="Text 11"/>
          <p:cNvSpPr/>
          <p:nvPr/>
        </p:nvSpPr>
        <p:spPr>
          <a:xfrm>
            <a:off x="685800" y="3566160"/>
            <a:ext cx="10820095" cy="64008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Set up a lightweight post-MVP evaluative testing cadence with clinicians. Not a research program — a research habit. Fast, repeatable, tied to decisions.</a:t>
            </a:r>
            <a:endParaRPr lang="en-US" sz="1250" dirty="0"/>
          </a:p>
        </p:txBody>
      </p:sp>
      <p:sp>
        <p:nvSpPr>
          <p:cNvPr id="14" name="Shape 12"/>
          <p:cNvSpPr/>
          <p:nvPr/>
        </p:nvSpPr>
        <p:spPr>
          <a:xfrm>
            <a:off x="457200" y="4572000"/>
            <a:ext cx="54864" cy="1371600"/>
          </a:xfrm>
          <a:prstGeom prst="rect">
            <a:avLst/>
          </a:prstGeom>
          <a:solidFill>
            <a:srgbClr val="3B3066"/>
          </a:solidFill>
          <a:ln/>
        </p:spPr>
      </p:sp>
      <p:sp>
        <p:nvSpPr>
          <p:cNvPr id="15" name="Shape 13"/>
          <p:cNvSpPr/>
          <p:nvPr/>
        </p:nvSpPr>
        <p:spPr>
          <a:xfrm>
            <a:off x="512064" y="4572000"/>
            <a:ext cx="11222431" cy="1371600"/>
          </a:xfrm>
          <a:prstGeom prst="rect">
            <a:avLst/>
          </a:prstGeom>
          <a:solidFill>
            <a:srgbClr val="F5F4F0"/>
          </a:solidFill>
          <a:ln/>
        </p:spPr>
      </p:sp>
      <p:sp>
        <p:nvSpPr>
          <p:cNvPr id="16" name="Text 14"/>
          <p:cNvSpPr/>
          <p:nvPr/>
        </p:nvSpPr>
        <p:spPr>
          <a:xfrm>
            <a:off x="685800" y="4645152"/>
            <a:ext cx="1097280" cy="274320"/>
          </a:xfrm>
          <a:prstGeom prst="rect">
            <a:avLst/>
          </a:prstGeom>
          <a:noFill/>
          <a:ln/>
        </p:spPr>
        <p:txBody>
          <a:bodyPr wrap="square" rtlCol="0" anchor="t"/>
          <a:lstStyle/>
          <a:p>
            <a:pPr algn="l" indent="0" marL="0">
              <a:buNone/>
            </a:pPr>
            <a:r>
              <a:rPr lang="en-US" sz="1100" b="1" dirty="0">
                <a:solidFill>
                  <a:srgbClr val="3B3066"/>
                </a:solidFill>
                <a:latin typeface="Calibri" pitchFamily="34" charset="0"/>
                <a:ea typeface="Calibri" pitchFamily="34" charset="-122"/>
                <a:cs typeface="Calibri" pitchFamily="34" charset="-120"/>
              </a:rPr>
              <a:t>Days 61–90</a:t>
            </a:r>
            <a:endParaRPr lang="en-US" sz="1100" dirty="0"/>
          </a:p>
        </p:txBody>
      </p:sp>
      <p:sp>
        <p:nvSpPr>
          <p:cNvPr id="17" name="Text 15"/>
          <p:cNvSpPr/>
          <p:nvPr/>
        </p:nvSpPr>
        <p:spPr>
          <a:xfrm>
            <a:off x="685800" y="4892040"/>
            <a:ext cx="10820095" cy="274320"/>
          </a:xfrm>
          <a:prstGeom prst="rect">
            <a:avLst/>
          </a:prstGeom>
          <a:noFill/>
          <a:ln/>
        </p:spPr>
        <p:txBody>
          <a:bodyPr wrap="square" rtlCol="0" anchor="t"/>
          <a:lstStyle/>
          <a:p>
            <a:pPr algn="l" indent="0" marL="0">
              <a:buNone/>
            </a:pPr>
            <a:r>
              <a:rPr lang="en-US" sz="1500" b="1" dirty="0">
                <a:solidFill>
                  <a:srgbClr val="2D2D2D"/>
                </a:solidFill>
                <a:latin typeface="Georgia" pitchFamily="34" charset="0"/>
                <a:ea typeface="Georgia" pitchFamily="34" charset="-122"/>
                <a:cs typeface="Georgia" pitchFamily="34" charset="-120"/>
              </a:rPr>
              <a:t>Fix the process upstream</a:t>
            </a:r>
            <a:endParaRPr lang="en-US" sz="1500" dirty="0"/>
          </a:p>
        </p:txBody>
      </p:sp>
      <p:sp>
        <p:nvSpPr>
          <p:cNvPr id="18" name="Text 16"/>
          <p:cNvSpPr/>
          <p:nvPr/>
        </p:nvSpPr>
        <p:spPr>
          <a:xfrm>
            <a:off x="685800" y="5212080"/>
            <a:ext cx="10820095" cy="640080"/>
          </a:xfrm>
          <a:prstGeom prst="rect">
            <a:avLst/>
          </a:prstGeom>
          <a:noFill/>
          <a:ln/>
        </p:spPr>
        <p:txBody>
          <a:bodyPr wrap="square" rtlCol="0" anchor="t"/>
          <a:lstStyle/>
          <a:p>
            <a:pPr algn="l" indent="0" marL="0">
              <a:lnSpc>
                <a:spcPct val="125000"/>
              </a:lnSpc>
              <a:buNone/>
            </a:pPr>
            <a:r>
              <a:rPr lang="en-US" sz="1250" dirty="0">
                <a:solidFill>
                  <a:srgbClr val="2D2D2D"/>
                </a:solidFill>
                <a:latin typeface="Calibri" pitchFamily="34" charset="0"/>
                <a:ea typeface="Calibri" pitchFamily="34" charset="-122"/>
                <a:cs typeface="Calibri" pitchFamily="34" charset="-120"/>
              </a:rPr>
              <a:t>Work with PMs to install a problem definition phase before anyone opens Lovable or starts prototyping. Establish the ideation-to-prototype-to-code workflow using Claude and the design system so nothing is throwaway.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2286000"/>
            <a:ext cx="11277295" cy="1371600"/>
          </a:xfrm>
          <a:prstGeom prst="rect">
            <a:avLst/>
          </a:prstGeom>
          <a:noFill/>
          <a:ln/>
        </p:spPr>
        <p:txBody>
          <a:bodyPr wrap="square" rtlCol="0" anchor="ctr"/>
          <a:lstStyle/>
          <a:p>
            <a:pPr algn="ctr" indent="0" marL="0">
              <a:buNone/>
            </a:pPr>
            <a:r>
              <a:rPr lang="en-US" sz="3600" b="1" i="1" dirty="0">
                <a:solidFill>
                  <a:srgbClr val="FFFFFF"/>
                </a:solidFill>
                <a:latin typeface="Georgia" pitchFamily="34" charset="0"/>
                <a:ea typeface="Georgia" pitchFamily="34" charset="-122"/>
                <a:cs typeface="Georgia" pitchFamily="34" charset="-120"/>
              </a:rPr>
              <a:t>Let me show you how I work.</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Context &amp; Problem</a:t>
            </a:r>
            <a:endParaRPr lang="en-US" sz="3600" dirty="0"/>
          </a:p>
        </p:txBody>
      </p:sp>
      <p:sp>
        <p:nvSpPr>
          <p:cNvPr id="3" name="Text 1"/>
          <p:cNvSpPr/>
          <p:nvPr/>
        </p:nvSpPr>
        <p:spPr>
          <a:xfrm>
            <a:off x="457200" y="1188720"/>
            <a:ext cx="6095848" cy="5029200"/>
          </a:xfrm>
          <a:prstGeom prst="rect">
            <a:avLst/>
          </a:prstGeom>
          <a:noFill/>
          <a:ln/>
        </p:spPr>
        <p:txBody>
          <a:bodyPr wrap="square" rtlCol="0" anchor="t"/>
          <a:lstStyle/>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XY's platform runs on AI agents that handle verification, scheduling, and claims for healthcare operations teams — admins, practice managers, coordinators.
</a:t>
            </a:r>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The agents worked. The problem was configuration. The only way to set them up was through a sales call. Every hour sales spent walking a customer through setup was an hour they couldn't spend selling.
</a:t>
            </a:r>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The UI had been built for engineers, not healthcare teams.
</a:t>
            </a:r>
            <a:pPr indent="0" marL="0">
              <a:lnSpc>
                <a:spcPct val="130000"/>
              </a:lnSpc>
              <a:buNone/>
            </a:pPr>
            <a:r>
              <a:rPr lang="en-US" sz="1400" b="1" dirty="0">
                <a:solidFill>
                  <a:srgbClr val="3B3066"/>
                </a:solidFill>
                <a:latin typeface="Calibri" pitchFamily="34" charset="0"/>
                <a:ea typeface="Calibri" pitchFamily="34" charset="-122"/>
                <a:cs typeface="Calibri" pitchFamily="34" charset="-120"/>
              </a:rPr>
              <a:t>My job: make AI orchestration something healthcare teams could set up themselves — in four months, as the sole designer.</a:t>
            </a:r>
            <a:endParaRPr lang="en-US" sz="1400" dirty="0"/>
          </a:p>
        </p:txBody>
      </p:sp>
      <p:pic>
        <p:nvPicPr>
          <p:cNvPr id="4" name="Image 0" descr="/Users/jacki/Documents/My-vault/My-projects/portfolio-2/public/xy/user-types.png">    </p:cNvPr>
          <p:cNvPicPr>
            <a:picLocks noChangeAspect="1"/>
          </p:cNvPicPr>
          <p:nvPr/>
        </p:nvPicPr>
        <p:blipFill>
          <a:blip r:embed="rId1"/>
          <a:srcRect l="0" r="0" t="0" b="0"/>
          <a:stretch/>
        </p:blipFill>
        <p:spPr>
          <a:xfrm>
            <a:off x="6553048" y="1188720"/>
            <a:ext cx="5181448" cy="3474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My Role</a:t>
            </a:r>
            <a:endParaRPr lang="en-US" sz="3600" dirty="0"/>
          </a:p>
        </p:txBody>
      </p:sp>
      <p:sp>
        <p:nvSpPr>
          <p:cNvPr id="3" name="Text 1"/>
          <p:cNvSpPr/>
          <p:nvPr/>
        </p:nvSpPr>
        <p:spPr>
          <a:xfrm>
            <a:off x="457200" y="777240"/>
            <a:ext cx="11277295" cy="320040"/>
          </a:xfrm>
          <a:prstGeom prst="rect">
            <a:avLst/>
          </a:prstGeom>
          <a:noFill/>
          <a:ln/>
        </p:spPr>
        <p:txBody>
          <a:bodyPr wrap="square" rtlCol="0" anchor="ctr"/>
          <a:lstStyle/>
          <a:p>
            <a:pPr indent="0" marL="0">
              <a:buNone/>
            </a:pPr>
            <a:r>
              <a:rPr lang="en-US" sz="1200" dirty="0">
                <a:solidFill>
                  <a:srgbClr val="888888"/>
                </a:solidFill>
                <a:latin typeface="Calibri Light" pitchFamily="34" charset="0"/>
                <a:ea typeface="Calibri Light" pitchFamily="34" charset="-122"/>
                <a:cs typeface="Calibri Light" pitchFamily="34" charset="-120"/>
              </a:rPr>
              <a:t>What I owned</a:t>
            </a:r>
            <a:endParaRPr lang="en-US" sz="1200" dirty="0"/>
          </a:p>
        </p:txBody>
      </p:sp>
      <p:sp>
        <p:nvSpPr>
          <p:cNvPr id="4" name="Shape 2"/>
          <p:cNvSpPr/>
          <p:nvPr/>
        </p:nvSpPr>
        <p:spPr>
          <a:xfrm>
            <a:off x="457200" y="1371600"/>
            <a:ext cx="11277295" cy="822960"/>
          </a:xfrm>
          <a:prstGeom prst="rect">
            <a:avLst/>
          </a:prstGeom>
          <a:solidFill>
            <a:srgbClr val="F5F4F0"/>
          </a:solidFill>
          <a:ln/>
        </p:spPr>
      </p:sp>
      <p:sp>
        <p:nvSpPr>
          <p:cNvPr id="5" name="Text 3"/>
          <p:cNvSpPr/>
          <p:nvPr/>
        </p:nvSpPr>
        <p:spPr>
          <a:xfrm>
            <a:off x="731520" y="1463040"/>
            <a:ext cx="10728655" cy="640080"/>
          </a:xfrm>
          <a:prstGeom prst="rect">
            <a:avLst/>
          </a:prstGeom>
          <a:noFill/>
          <a:ln/>
        </p:spPr>
        <p:txBody>
          <a:bodyPr wrap="square" rtlCol="0" anchor="t"/>
          <a:lstStyle/>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Sole product designer, reporting directly to the CPO and CEO.</a:t>
            </a:r>
            <a:endParaRPr lang="en-US" sz="1400" dirty="0"/>
          </a:p>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Team of four engineers.</a:t>
            </a:r>
            <a:endParaRPr lang="en-US" sz="1400" dirty="0"/>
          </a:p>
        </p:txBody>
      </p:sp>
      <p:sp>
        <p:nvSpPr>
          <p:cNvPr id="6" name="Shape 4"/>
          <p:cNvSpPr/>
          <p:nvPr/>
        </p:nvSpPr>
        <p:spPr>
          <a:xfrm>
            <a:off x="457200" y="2377440"/>
            <a:ext cx="11277295" cy="822960"/>
          </a:xfrm>
          <a:prstGeom prst="rect">
            <a:avLst/>
          </a:prstGeom>
          <a:solidFill>
            <a:srgbClr val="F5F4F0"/>
          </a:solidFill>
          <a:ln/>
        </p:spPr>
      </p:sp>
      <p:sp>
        <p:nvSpPr>
          <p:cNvPr id="7" name="Text 5"/>
          <p:cNvSpPr/>
          <p:nvPr/>
        </p:nvSpPr>
        <p:spPr>
          <a:xfrm>
            <a:off x="731520" y="2468880"/>
            <a:ext cx="10728655" cy="640080"/>
          </a:xfrm>
          <a:prstGeom prst="rect">
            <a:avLst/>
          </a:prstGeom>
          <a:noFill/>
          <a:ln/>
        </p:spPr>
        <p:txBody>
          <a:bodyPr wrap="square" rtlCol="0" anchor="t"/>
          <a:lstStyle/>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I owned the full design surface: the AI agent orchestration UI, the component library, the design system, and the design-to-engineering pipeline.</a:t>
            </a:r>
            <a:endParaRPr lang="en-US" sz="1400" dirty="0"/>
          </a:p>
        </p:txBody>
      </p:sp>
      <p:sp>
        <p:nvSpPr>
          <p:cNvPr id="8" name="Shape 6"/>
          <p:cNvSpPr/>
          <p:nvPr/>
        </p:nvSpPr>
        <p:spPr>
          <a:xfrm>
            <a:off x="457200" y="3383280"/>
            <a:ext cx="11277295" cy="822960"/>
          </a:xfrm>
          <a:prstGeom prst="rect">
            <a:avLst/>
          </a:prstGeom>
          <a:solidFill>
            <a:srgbClr val="F5F4F0"/>
          </a:solidFill>
          <a:ln/>
        </p:spPr>
      </p:sp>
      <p:sp>
        <p:nvSpPr>
          <p:cNvPr id="9" name="Text 7"/>
          <p:cNvSpPr/>
          <p:nvPr/>
        </p:nvSpPr>
        <p:spPr>
          <a:xfrm>
            <a:off x="731520" y="3474720"/>
            <a:ext cx="10728655" cy="640080"/>
          </a:xfrm>
          <a:prstGeom prst="rect">
            <a:avLst/>
          </a:prstGeom>
          <a:noFill/>
          <a:ln/>
        </p:spPr>
        <p:txBody>
          <a:bodyPr wrap="square" rtlCol="0" anchor="t"/>
          <a:lstStyle/>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When I joined, none of these existed in any structured form. The workflow, the standards, and the foundation were mine to build.</a:t>
            </a:r>
            <a:endParaRPr lang="en-US" sz="1400" dirty="0"/>
          </a:p>
        </p:txBody>
      </p:sp>
      <p:pic>
        <p:nvPicPr>
          <p:cNvPr id="10" name="Image 0" descr="/Users/jacki/Documents/My-vault/My-projects/portfolio-2/public/logos/github.png">    </p:cNvPr>
          <p:cNvPicPr>
            <a:picLocks noChangeAspect="1"/>
          </p:cNvPicPr>
          <p:nvPr/>
        </p:nvPicPr>
        <p:blipFill>
          <a:blip r:embed="rId1"/>
          <a:srcRect l="0" r="0" t="0" b="0"/>
          <a:stretch/>
        </p:blipFill>
        <p:spPr>
          <a:xfrm>
            <a:off x="8899855" y="6217920"/>
            <a:ext cx="457200" cy="274320"/>
          </a:xfrm>
          <a:prstGeom prst="rect">
            <a:avLst/>
          </a:prstGeom>
        </p:spPr>
      </p:pic>
      <p:pic>
        <p:nvPicPr>
          <p:cNvPr id="11" name="Image 1" descr="/Users/jacki/Documents/My-vault/My-projects/portfolio-2/public/logos/cursor.png">    </p:cNvPr>
          <p:cNvPicPr>
            <a:picLocks noChangeAspect="1"/>
          </p:cNvPicPr>
          <p:nvPr/>
        </p:nvPicPr>
        <p:blipFill>
          <a:blip r:embed="rId2"/>
          <a:srcRect l="0" r="0" t="0" b="0"/>
          <a:stretch/>
        </p:blipFill>
        <p:spPr>
          <a:xfrm>
            <a:off x="9466783" y="6217920"/>
            <a:ext cx="457200" cy="274320"/>
          </a:xfrm>
          <a:prstGeom prst="rect">
            <a:avLst/>
          </a:prstGeom>
        </p:spPr>
      </p:pic>
      <p:pic>
        <p:nvPicPr>
          <p:cNvPr id="12" name="Image 2" descr="/Users/jacki/Documents/My-vault/My-projects/portfolio-2/public/logos/claude-code.png">    </p:cNvPr>
          <p:cNvPicPr>
            <a:picLocks noChangeAspect="1"/>
          </p:cNvPicPr>
          <p:nvPr/>
        </p:nvPicPr>
        <p:blipFill>
          <a:blip r:embed="rId3"/>
          <a:srcRect l="0" r="0" t="0" b="0"/>
          <a:stretch/>
        </p:blipFill>
        <p:spPr>
          <a:xfrm>
            <a:off x="10033711" y="6217920"/>
            <a:ext cx="457200" cy="274320"/>
          </a:xfrm>
          <a:prstGeom prst="rect">
            <a:avLst/>
          </a:prstGeom>
        </p:spPr>
      </p:pic>
      <p:pic>
        <p:nvPicPr>
          <p:cNvPr id="13" name="Image 3" descr="/Users/jacki/Documents/My-vault/My-projects/portfolio-2/public/logos/figma.png">    </p:cNvPr>
          <p:cNvPicPr>
            <a:picLocks noChangeAspect="1"/>
          </p:cNvPicPr>
          <p:nvPr/>
        </p:nvPicPr>
        <p:blipFill>
          <a:blip r:embed="rId4"/>
          <a:srcRect l="0" r="0" t="0" b="0"/>
          <a:stretch/>
        </p:blipFill>
        <p:spPr>
          <a:xfrm>
            <a:off x="10600639" y="6217920"/>
            <a:ext cx="457200" cy="274320"/>
          </a:xfrm>
          <a:prstGeom prst="rect">
            <a:avLst/>
          </a:prstGeom>
        </p:spPr>
      </p:pic>
      <p:pic>
        <p:nvPicPr>
          <p:cNvPr id="14" name="Image 4" descr="/Users/jacki/Documents/My-vault/My-projects/portfolio-2/public/logos/linear.sv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11167567" y="6217920"/>
            <a:ext cx="457200" cy="274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What I found</a:t>
            </a:r>
            <a:endParaRPr lang="en-US" sz="3600" dirty="0"/>
          </a:p>
        </p:txBody>
      </p:sp>
      <p:pic>
        <p:nvPicPr>
          <p:cNvPr id="3" name="Image 0" descr="/Users/jacki/Documents/My-vault/My-projects/portfolio-2/public/xy/xy-platform.png">    </p:cNvPr>
          <p:cNvPicPr>
            <a:picLocks noChangeAspect="1"/>
          </p:cNvPicPr>
          <p:nvPr/>
        </p:nvPicPr>
        <p:blipFill>
          <a:blip r:embed="rId1"/>
          <a:srcRect l="0" r="0" t="0" b="0"/>
          <a:stretch/>
        </p:blipFill>
        <p:spPr>
          <a:xfrm>
            <a:off x="6370168" y="1005840"/>
            <a:ext cx="5364328" cy="4572000"/>
          </a:xfrm>
          <a:prstGeom prst="rect">
            <a:avLst/>
          </a:prstGeom>
        </p:spPr>
      </p:pic>
      <p:sp>
        <p:nvSpPr>
          <p:cNvPr id="4" name="Text 1"/>
          <p:cNvSpPr/>
          <p:nvPr/>
        </p:nvSpPr>
        <p:spPr>
          <a:xfrm>
            <a:off x="457200" y="1005840"/>
            <a:ext cx="5821528" cy="5029200"/>
          </a:xfrm>
          <a:prstGeom prst="rect">
            <a:avLst/>
          </a:prstGeom>
          <a:noFill/>
          <a:ln/>
        </p:spPr>
        <p:txBody>
          <a:bodyPr wrap="square" rtlCol="0" anchor="t"/>
          <a:lstStyle/>
          <a:p>
            <a:pPr indent="0" marL="0">
              <a:lnSpc>
                <a:spcPct val="130000"/>
              </a:lnSpc>
              <a:buNone/>
            </a:pPr>
            <a:r>
              <a:rPr lang="en-US" sz="1300" dirty="0">
                <a:solidFill>
                  <a:srgbClr val="2D2D2D"/>
                </a:solidFill>
                <a:latin typeface="Calibri" pitchFamily="34" charset="0"/>
                <a:ea typeface="Calibri" pitchFamily="34" charset="-122"/>
                <a:cs typeface="Calibri" pitchFamily="34" charset="-120"/>
              </a:rPr>
              <a:t>I didn't have a formal research budget. What I had was direct access to the CPO, customer calls, and a product that users described as "</a:t>
            </a:r>
            <a:pPr indent="0" marL="0">
              <a:lnSpc>
                <a:spcPct val="130000"/>
              </a:lnSpc>
              <a:buNone/>
            </a:pPr>
            <a:r>
              <a:rPr lang="en-US" sz="1300" b="1" i="1" dirty="0">
                <a:solidFill>
                  <a:srgbClr val="3B3066"/>
                </a:solidFill>
                <a:latin typeface="Calibri" pitchFamily="34" charset="0"/>
                <a:ea typeface="Calibri" pitchFamily="34" charset="-122"/>
                <a:cs typeface="Calibri" pitchFamily="34" charset="-120"/>
              </a:rPr>
              <a:t>incredibly useful, impossibly confusing to use without a demo</a:t>
            </a:r>
            <a:pPr indent="0" marL="0">
              <a:lnSpc>
                <a:spcPct val="130000"/>
              </a:lnSpc>
              <a:buNone/>
            </a:pPr>
            <a:r>
              <a:rPr lang="en-US" sz="1300" dirty="0">
                <a:solidFill>
                  <a:srgbClr val="2D2D2D"/>
                </a:solidFill>
                <a:latin typeface="Calibri" pitchFamily="34" charset="0"/>
                <a:ea typeface="Calibri" pitchFamily="34" charset="-122"/>
                <a:cs typeface="Calibri" pitchFamily="34" charset="-120"/>
              </a:rPr>
              <a:t>."
That quote told me everything. The underlying system was valuable. The surface layer was the problem.
I identified three blockers:
</a:t>
            </a:r>
            <a:pPr indent="0" marL="0">
              <a:lnSpc>
                <a:spcPct val="140000"/>
              </a:lnSpc>
              <a:buNone/>
            </a:pPr>
            <a:r>
              <a:rPr lang="en-US" sz="1300" dirty="0">
                <a:solidFill>
                  <a:srgbClr val="2D2D2D"/>
                </a:solidFill>
                <a:latin typeface="Calibri" pitchFamily="34" charset="0"/>
                <a:ea typeface="Calibri" pitchFamily="34" charset="-122"/>
                <a:cs typeface="Calibri" pitchFamily="34" charset="-120"/>
              </a:rPr>
              <a:t>1.  Every agent configuration required a human from XY to facilitate</a:t>
            </a:r>
            <a:endParaRPr lang="en-US" sz="1300" dirty="0"/>
          </a:p>
          <a:p>
            <a:pPr indent="0" marL="0">
              <a:lnSpc>
                <a:spcPct val="140000"/>
              </a:lnSpc>
              <a:buNone/>
            </a:pPr>
            <a:r>
              <a:rPr lang="en-US" sz="1300" dirty="0">
                <a:solidFill>
                  <a:srgbClr val="2D2D2D"/>
                </a:solidFill>
                <a:latin typeface="Calibri" pitchFamily="34" charset="0"/>
                <a:ea typeface="Calibri" pitchFamily="34" charset="-122"/>
                <a:cs typeface="Calibri" pitchFamily="34" charset="-120"/>
              </a:rPr>
              <a:t>2.  The UI had been built for engineers, not healthcare teams</a:t>
            </a:r>
            <a:endParaRPr lang="en-US" sz="1300" dirty="0"/>
          </a:p>
          <a:p>
            <a:pPr indent="0" marL="0">
              <a:lnSpc>
                <a:spcPct val="140000"/>
              </a:lnSpc>
              <a:buNone/>
            </a:pPr>
            <a:r>
              <a:rPr lang="en-US" sz="1300" dirty="0">
                <a:solidFill>
                  <a:srgbClr val="2D2D2D"/>
                </a:solidFill>
                <a:latin typeface="Calibri" pitchFamily="34" charset="0"/>
                <a:ea typeface="Calibri" pitchFamily="34" charset="-122"/>
                <a:cs typeface="Calibri" pitchFamily="34" charset="-120"/>
              </a:rPr>
              <a:t>3.  There was no way to orchestrate multiple agents without a sales call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The reframe that changed everything</a:t>
            </a:r>
            <a:endParaRPr lang="en-US" sz="3600" dirty="0"/>
          </a:p>
        </p:txBody>
      </p:sp>
      <p:sp>
        <p:nvSpPr>
          <p:cNvPr id="3" name="Shape 1"/>
          <p:cNvSpPr/>
          <p:nvPr/>
        </p:nvSpPr>
        <p:spPr>
          <a:xfrm>
            <a:off x="457200" y="1371600"/>
            <a:ext cx="5501488" cy="2743200"/>
          </a:xfrm>
          <a:prstGeom prst="rect">
            <a:avLst/>
          </a:prstGeom>
          <a:solidFill>
            <a:srgbClr val="F5F4F0"/>
          </a:solidFill>
          <a:ln/>
        </p:spPr>
      </p:sp>
      <p:sp>
        <p:nvSpPr>
          <p:cNvPr id="4" name="Text 2"/>
          <p:cNvSpPr/>
          <p:nvPr/>
        </p:nvSpPr>
        <p:spPr>
          <a:xfrm>
            <a:off x="640080" y="1463040"/>
            <a:ext cx="5135728" cy="365760"/>
          </a:xfrm>
          <a:prstGeom prst="rect">
            <a:avLst/>
          </a:prstGeom>
          <a:noFill/>
          <a:ln/>
        </p:spPr>
        <p:txBody>
          <a:bodyPr wrap="square" rtlCol="0" anchor="ctr"/>
          <a:lstStyle/>
          <a:p>
            <a:pPr indent="0" marL="0">
              <a:buNone/>
            </a:pPr>
            <a:r>
              <a:rPr lang="en-US" sz="1100" b="1" dirty="0">
                <a:solidFill>
                  <a:srgbClr val="888888"/>
                </a:solidFill>
                <a:latin typeface="Calibri" pitchFamily="34" charset="0"/>
                <a:ea typeface="Calibri" pitchFamily="34" charset="-122"/>
                <a:cs typeface="Calibri" pitchFamily="34" charset="-120"/>
              </a:rPr>
              <a:t>BEFORE  —  FORMS</a:t>
            </a:r>
            <a:endParaRPr lang="en-US" sz="1100" dirty="0"/>
          </a:p>
        </p:txBody>
      </p:sp>
      <p:sp>
        <p:nvSpPr>
          <p:cNvPr id="5" name="Text 3"/>
          <p:cNvSpPr/>
          <p:nvPr/>
        </p:nvSpPr>
        <p:spPr>
          <a:xfrm>
            <a:off x="640080" y="1920240"/>
            <a:ext cx="5135728" cy="2011680"/>
          </a:xfrm>
          <a:prstGeom prst="rect">
            <a:avLst/>
          </a:prstGeom>
          <a:noFill/>
          <a:ln/>
        </p:spPr>
        <p:txBody>
          <a:bodyPr wrap="square" rtlCol="0" anchor="t"/>
          <a:lstStyle/>
          <a:p>
            <a:pPr indent="0" marL="0">
              <a:lnSpc>
                <a:spcPct val="130000"/>
              </a:lnSpc>
              <a:buNone/>
            </a:pPr>
            <a:r>
              <a:rPr lang="en-US" sz="1300" dirty="0">
                <a:solidFill>
                  <a:srgbClr val="2D2D2D"/>
                </a:solidFill>
                <a:latin typeface="Calibri" pitchFamily="34" charset="0"/>
                <a:ea typeface="Calibri" pitchFamily="34" charset="-122"/>
                <a:cs typeface="Calibri" pitchFamily="34" charset="-120"/>
              </a:rPr>
              <a:t>The brief was: improve the configuration UI.  Users had to navigate forms, understand agent models, and make decisions they didn't have context for.</a:t>
            </a:r>
            <a:endParaRPr lang="en-US" sz="1300" dirty="0"/>
          </a:p>
        </p:txBody>
      </p:sp>
      <p:sp>
        <p:nvSpPr>
          <p:cNvPr id="6" name="Shape 4"/>
          <p:cNvSpPr/>
          <p:nvPr/>
        </p:nvSpPr>
        <p:spPr>
          <a:xfrm>
            <a:off x="6233008" y="1371600"/>
            <a:ext cx="5501488" cy="2743200"/>
          </a:xfrm>
          <a:prstGeom prst="rect">
            <a:avLst/>
          </a:prstGeom>
          <a:solidFill>
            <a:srgbClr val="3B3066"/>
          </a:solidFill>
          <a:ln/>
        </p:spPr>
      </p:sp>
      <p:sp>
        <p:nvSpPr>
          <p:cNvPr id="7" name="Text 5"/>
          <p:cNvSpPr/>
          <p:nvPr/>
        </p:nvSpPr>
        <p:spPr>
          <a:xfrm>
            <a:off x="6415888" y="1463040"/>
            <a:ext cx="5135728"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AFTER  —  CHAT</a:t>
            </a:r>
            <a:endParaRPr lang="en-US" sz="1100" dirty="0"/>
          </a:p>
        </p:txBody>
      </p:sp>
      <p:sp>
        <p:nvSpPr>
          <p:cNvPr id="8" name="Text 6"/>
          <p:cNvSpPr/>
          <p:nvPr/>
        </p:nvSpPr>
        <p:spPr>
          <a:xfrm>
            <a:off x="6415888" y="1920240"/>
            <a:ext cx="5135728" cy="2011680"/>
          </a:xfrm>
          <a:prstGeom prst="rect">
            <a:avLst/>
          </a:prstGeom>
          <a:noFill/>
          <a:ln/>
        </p:spPr>
        <p:txBody>
          <a:bodyPr wrap="square" rtlCol="0" anchor="t"/>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conversational layer. Users describe what they need. The system routes to the right agent. A multi-hour onboarding call becomes a five-minute conversation.</a:t>
            </a:r>
            <a:endParaRPr lang="en-US" sz="1300" dirty="0"/>
          </a:p>
        </p:txBody>
      </p:sp>
      <p:sp>
        <p:nvSpPr>
          <p:cNvPr id="9" name="Text 7"/>
          <p:cNvSpPr/>
          <p:nvPr/>
        </p:nvSpPr>
        <p:spPr>
          <a:xfrm>
            <a:off x="457200" y="4389120"/>
            <a:ext cx="11277295" cy="457200"/>
          </a:xfrm>
          <a:prstGeom prst="rect">
            <a:avLst/>
          </a:prstGeom>
          <a:noFill/>
          <a:ln/>
        </p:spPr>
        <p:txBody>
          <a:bodyPr wrap="square" rtlCol="0" anchor="ctr"/>
          <a:lstStyle/>
          <a:p>
            <a:pPr algn="ctr" indent="0" marL="0">
              <a:buNone/>
            </a:pPr>
            <a:r>
              <a:rPr lang="en-US" sz="1600" b="1" i="1" dirty="0">
                <a:solidFill>
                  <a:srgbClr val="3B3066"/>
                </a:solidFill>
                <a:latin typeface="Georgia" pitchFamily="34" charset="0"/>
                <a:ea typeface="Georgia" pitchFamily="34" charset="-122"/>
                <a:cs typeface="Georgia" pitchFamily="34" charset="-120"/>
              </a:rPr>
              <a:t>Healthcare operations teams don't think in configurations. They think in tasks.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Process &amp; Exploration</a:t>
            </a:r>
            <a:endParaRPr lang="en-US" sz="3600" dirty="0"/>
          </a:p>
        </p:txBody>
      </p:sp>
      <p:sp>
        <p:nvSpPr>
          <p:cNvPr id="3" name="Shape 1"/>
          <p:cNvSpPr/>
          <p:nvPr/>
        </p:nvSpPr>
        <p:spPr>
          <a:xfrm>
            <a:off x="457200" y="1188720"/>
            <a:ext cx="3637178" cy="4114800"/>
          </a:xfrm>
          <a:prstGeom prst="rect">
            <a:avLst/>
          </a:prstGeom>
          <a:solidFill>
            <a:srgbClr val="F5F4F0"/>
          </a:solidFill>
          <a:ln/>
        </p:spPr>
      </p:sp>
      <p:sp>
        <p:nvSpPr>
          <p:cNvPr id="4" name="Shape 2"/>
          <p:cNvSpPr/>
          <p:nvPr/>
        </p:nvSpPr>
        <p:spPr>
          <a:xfrm>
            <a:off x="594360" y="1371600"/>
            <a:ext cx="1097280" cy="274320"/>
          </a:xfrm>
          <a:prstGeom prst="roundRect">
            <a:avLst>
              <a:gd name="adj" fmla="val 50000"/>
            </a:avLst>
          </a:prstGeom>
          <a:solidFill>
            <a:srgbClr val="3B3066"/>
          </a:solidFill>
          <a:ln/>
        </p:spPr>
      </p:sp>
      <p:sp>
        <p:nvSpPr>
          <p:cNvPr id="5" name="Text 3"/>
          <p:cNvSpPr/>
          <p:nvPr/>
        </p:nvSpPr>
        <p:spPr>
          <a:xfrm>
            <a:off x="594360" y="1371600"/>
            <a:ext cx="109728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LOWER RISK, LOWER IMPACT</a:t>
            </a:r>
            <a:endParaRPr lang="en-US" sz="800" dirty="0"/>
          </a:p>
        </p:txBody>
      </p:sp>
      <p:sp>
        <p:nvSpPr>
          <p:cNvPr id="6" name="Text 4"/>
          <p:cNvSpPr/>
          <p:nvPr/>
        </p:nvSpPr>
        <p:spPr>
          <a:xfrm>
            <a:off x="594360" y="1828800"/>
            <a:ext cx="3362858" cy="365760"/>
          </a:xfrm>
          <a:prstGeom prst="rect">
            <a:avLst/>
          </a:prstGeom>
          <a:noFill/>
          <a:ln/>
        </p:spPr>
        <p:txBody>
          <a:bodyPr wrap="square"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Forms-first</a:t>
            </a:r>
            <a:endParaRPr lang="en-US" sz="1500" dirty="0"/>
          </a:p>
        </p:txBody>
      </p:sp>
      <p:sp>
        <p:nvSpPr>
          <p:cNvPr id="7" name="Text 5"/>
          <p:cNvSpPr/>
          <p:nvPr/>
        </p:nvSpPr>
        <p:spPr>
          <a:xfrm>
            <a:off x="594360" y="2286000"/>
            <a:ext cx="3362858" cy="256032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Clean up the existing configuration UI. Reduce cognitive load. Lower risk, but users would still need to understand the agent model.</a:t>
            </a:r>
            <a:endParaRPr lang="en-US" sz="1200" dirty="0"/>
          </a:p>
        </p:txBody>
      </p:sp>
      <p:sp>
        <p:nvSpPr>
          <p:cNvPr id="8" name="Shape 6"/>
          <p:cNvSpPr/>
          <p:nvPr/>
        </p:nvSpPr>
        <p:spPr>
          <a:xfrm>
            <a:off x="4277258" y="1188720"/>
            <a:ext cx="3637178" cy="4114800"/>
          </a:xfrm>
          <a:prstGeom prst="rect">
            <a:avLst/>
          </a:prstGeom>
          <a:solidFill>
            <a:srgbClr val="F5F4F0"/>
          </a:solidFill>
          <a:ln/>
        </p:spPr>
      </p:sp>
      <p:sp>
        <p:nvSpPr>
          <p:cNvPr id="9" name="Shape 7"/>
          <p:cNvSpPr/>
          <p:nvPr/>
        </p:nvSpPr>
        <p:spPr>
          <a:xfrm>
            <a:off x="4414418" y="1371600"/>
            <a:ext cx="1097280" cy="274320"/>
          </a:xfrm>
          <a:prstGeom prst="roundRect">
            <a:avLst>
              <a:gd name="adj" fmla="val 50000"/>
            </a:avLst>
          </a:prstGeom>
          <a:solidFill>
            <a:srgbClr val="3B3066"/>
          </a:solidFill>
          <a:ln/>
        </p:spPr>
      </p:sp>
      <p:sp>
        <p:nvSpPr>
          <p:cNvPr id="10" name="Text 8"/>
          <p:cNvSpPr/>
          <p:nvPr/>
        </p:nvSpPr>
        <p:spPr>
          <a:xfrm>
            <a:off x="4414418" y="1371600"/>
            <a:ext cx="109728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MIDDLE GROUND</a:t>
            </a:r>
            <a:endParaRPr lang="en-US" sz="800" dirty="0"/>
          </a:p>
        </p:txBody>
      </p:sp>
      <p:sp>
        <p:nvSpPr>
          <p:cNvPr id="11" name="Text 9"/>
          <p:cNvSpPr/>
          <p:nvPr/>
        </p:nvSpPr>
        <p:spPr>
          <a:xfrm>
            <a:off x="4414418" y="1828800"/>
            <a:ext cx="3362858" cy="365760"/>
          </a:xfrm>
          <a:prstGeom prst="rect">
            <a:avLst/>
          </a:prstGeom>
          <a:noFill/>
          <a:ln/>
        </p:spPr>
        <p:txBody>
          <a:bodyPr wrap="square"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Wizard / guided</a:t>
            </a:r>
            <a:endParaRPr lang="en-US" sz="1500" dirty="0"/>
          </a:p>
        </p:txBody>
      </p:sp>
      <p:sp>
        <p:nvSpPr>
          <p:cNvPr id="12" name="Text 10"/>
          <p:cNvSpPr/>
          <p:nvPr/>
        </p:nvSpPr>
        <p:spPr>
          <a:xfrm>
            <a:off x="4414418" y="2286000"/>
            <a:ext cx="3362858" cy="256032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Step-by-step onboarding flow. Better than forms but still required decisions users lacked context for.</a:t>
            </a:r>
            <a:endParaRPr lang="en-US" sz="1200" dirty="0"/>
          </a:p>
        </p:txBody>
      </p:sp>
      <p:sp>
        <p:nvSpPr>
          <p:cNvPr id="13" name="Shape 11"/>
          <p:cNvSpPr/>
          <p:nvPr/>
        </p:nvSpPr>
        <p:spPr>
          <a:xfrm>
            <a:off x="8097317" y="1188720"/>
            <a:ext cx="3637178" cy="4114800"/>
          </a:xfrm>
          <a:prstGeom prst="rect">
            <a:avLst/>
          </a:prstGeom>
          <a:solidFill>
            <a:srgbClr val="3B3066"/>
          </a:solidFill>
          <a:ln/>
        </p:spPr>
      </p:sp>
      <p:sp>
        <p:nvSpPr>
          <p:cNvPr id="14" name="Shape 12"/>
          <p:cNvSpPr/>
          <p:nvPr/>
        </p:nvSpPr>
        <p:spPr>
          <a:xfrm>
            <a:off x="8234477" y="1371600"/>
            <a:ext cx="1097280" cy="274320"/>
          </a:xfrm>
          <a:prstGeom prst="roundRect">
            <a:avLst>
              <a:gd name="adj" fmla="val 50000"/>
            </a:avLst>
          </a:prstGeom>
          <a:solidFill>
            <a:srgbClr val="FFFFFF"/>
          </a:solidFill>
          <a:ln/>
        </p:spPr>
      </p:sp>
      <p:sp>
        <p:nvSpPr>
          <p:cNvPr id="15" name="Text 13"/>
          <p:cNvSpPr/>
          <p:nvPr/>
        </p:nvSpPr>
        <p:spPr>
          <a:xfrm>
            <a:off x="8234477" y="1371600"/>
            <a:ext cx="1097280" cy="274320"/>
          </a:xfrm>
          <a:prstGeom prst="rect">
            <a:avLst/>
          </a:prstGeom>
          <a:noFill/>
          <a:ln/>
        </p:spPr>
        <p:txBody>
          <a:bodyPr wrap="square" rtlCol="0" anchor="ctr"/>
          <a:lstStyle/>
          <a:p>
            <a:pPr algn="ctr" indent="0" marL="0">
              <a:buNone/>
            </a:pPr>
            <a:r>
              <a:rPr lang="en-US" sz="800" b="1" dirty="0">
                <a:solidFill>
                  <a:srgbClr val="3B3066"/>
                </a:solidFill>
                <a:latin typeface="Calibri" pitchFamily="34" charset="0"/>
                <a:ea typeface="Calibri" pitchFamily="34" charset="-122"/>
                <a:cs typeface="Calibri" pitchFamily="34" charset="-120"/>
              </a:rPr>
              <a:t>THE WINNER</a:t>
            </a:r>
            <a:endParaRPr lang="en-US" sz="800" dirty="0"/>
          </a:p>
        </p:txBody>
      </p:sp>
      <p:sp>
        <p:nvSpPr>
          <p:cNvPr id="16" name="Text 14"/>
          <p:cNvSpPr/>
          <p:nvPr/>
        </p:nvSpPr>
        <p:spPr>
          <a:xfrm>
            <a:off x="8234477" y="1828800"/>
            <a:ext cx="3362858" cy="36576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Chat-first ✓</a:t>
            </a:r>
            <a:endParaRPr lang="en-US" sz="1500" dirty="0"/>
          </a:p>
        </p:txBody>
      </p:sp>
      <p:sp>
        <p:nvSpPr>
          <p:cNvPr id="17" name="Text 15"/>
          <p:cNvSpPr/>
          <p:nvPr/>
        </p:nvSpPr>
        <p:spPr>
          <a:xfrm>
            <a:off x="8234477" y="2286000"/>
            <a:ext cx="3362858" cy="2560320"/>
          </a:xfrm>
          <a:prstGeom prst="rect">
            <a:avLst/>
          </a:prstGeom>
          <a:noFill/>
          <a:ln/>
        </p:spPr>
        <p:txBody>
          <a:bodyPr wrap="square" rtlCol="0" anchor="t"/>
          <a:lstStyle/>
          <a:p>
            <a:pPr indent="0" marL="0">
              <a:lnSpc>
                <a:spcPct val="130000"/>
              </a:lnSpc>
              <a:buNone/>
            </a:pPr>
            <a:r>
              <a:rPr lang="en-US" sz="1200" dirty="0">
                <a:solidFill>
                  <a:srgbClr val="DDDDDD"/>
                </a:solidFill>
                <a:latin typeface="Calibri" pitchFamily="34" charset="0"/>
                <a:ea typeface="Calibri" pitchFamily="34" charset="-122"/>
                <a:cs typeface="Calibri" pitchFamily="34" charset="-120"/>
              </a:rPr>
              <a:t>Users describe intent in natural language. System interprets and routes. Highest lift, but the only pattern matching how healthcare teams actually communicate.</a:t>
            </a:r>
            <a:endParaRPr lang="en-US" sz="1200" dirty="0"/>
          </a:p>
        </p:txBody>
      </p:sp>
      <p:sp>
        <p:nvSpPr>
          <p:cNvPr id="18" name="Text 16"/>
          <p:cNvSpPr/>
          <p:nvPr/>
        </p:nvSpPr>
        <p:spPr>
          <a:xfrm>
            <a:off x="457200" y="5486400"/>
            <a:ext cx="11277295" cy="640080"/>
          </a:xfrm>
          <a:prstGeom prst="rect">
            <a:avLst/>
          </a:prstGeom>
          <a:noFill/>
          <a:ln/>
        </p:spPr>
        <p:txBody>
          <a:bodyPr wrap="square" rtlCol="0" anchor="ctr"/>
          <a:lstStyle/>
          <a:p>
            <a:pPr indent="0" marL="0">
              <a:lnSpc>
                <a:spcPct val="125000"/>
              </a:lnSpc>
              <a:buNone/>
            </a:pPr>
            <a:r>
              <a:rPr lang="en-US" sz="1200" i="1" dirty="0">
                <a:solidFill>
                  <a:srgbClr val="888888"/>
                </a:solidFill>
                <a:latin typeface="Calibri Light" pitchFamily="34" charset="0"/>
                <a:ea typeface="Calibri Light" pitchFamily="34" charset="-122"/>
                <a:cs typeface="Calibri Light" pitchFamily="34" charset="-120"/>
              </a:rPr>
              <a:t>I pressure-tested the chat-first direction with the CPO and two customer conversations. Healthcare ops teams are comfortable with conversational interfaces — forms are the foreign language.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What I built</a:t>
            </a:r>
            <a:endParaRPr lang="en-US" sz="3600" dirty="0"/>
          </a:p>
        </p:txBody>
      </p:sp>
      <p:sp>
        <p:nvSpPr>
          <p:cNvPr id="3" name="Shape 1"/>
          <p:cNvSpPr/>
          <p:nvPr/>
        </p:nvSpPr>
        <p:spPr>
          <a:xfrm>
            <a:off x="457200" y="1188720"/>
            <a:ext cx="5501488" cy="1828800"/>
          </a:xfrm>
          <a:prstGeom prst="rect">
            <a:avLst/>
          </a:prstGeom>
          <a:solidFill>
            <a:srgbClr val="F5F4F0"/>
          </a:solidFill>
          <a:ln/>
        </p:spPr>
      </p:sp>
      <p:sp>
        <p:nvSpPr>
          <p:cNvPr id="4" name="Text 2"/>
          <p:cNvSpPr/>
          <p:nvPr/>
        </p:nvSpPr>
        <p:spPr>
          <a:xfrm>
            <a:off x="594360" y="1261872"/>
            <a:ext cx="457200" cy="274320"/>
          </a:xfrm>
          <a:prstGeom prst="rect">
            <a:avLst/>
          </a:prstGeom>
          <a:noFill/>
          <a:ln/>
        </p:spPr>
        <p:txBody>
          <a:bodyPr wrap="square" rtlCol="0" anchor="ctr"/>
          <a:lstStyle/>
          <a:p>
            <a:pPr indent="0" marL="0">
              <a:buNone/>
            </a:pPr>
            <a:r>
              <a:rPr lang="en-US" sz="1100" b="1" dirty="0">
                <a:solidFill>
                  <a:srgbClr val="3B3066"/>
                </a:solidFill>
                <a:latin typeface="Calibri" pitchFamily="34" charset="0"/>
                <a:ea typeface="Calibri" pitchFamily="34" charset="-122"/>
                <a:cs typeface="Calibri" pitchFamily="34" charset="-120"/>
              </a:rPr>
              <a:t>01</a:t>
            </a:r>
            <a:endParaRPr lang="en-US" sz="1100" dirty="0"/>
          </a:p>
        </p:txBody>
      </p:sp>
      <p:sp>
        <p:nvSpPr>
          <p:cNvPr id="5" name="Text 3"/>
          <p:cNvSpPr/>
          <p:nvPr/>
        </p:nvSpPr>
        <p:spPr>
          <a:xfrm>
            <a:off x="594360" y="1554480"/>
            <a:ext cx="5227168" cy="320040"/>
          </a:xfrm>
          <a:prstGeom prst="rect">
            <a:avLst/>
          </a:prstGeom>
          <a:noFill/>
          <a:ln/>
        </p:spPr>
        <p:txBody>
          <a:bodyPr wrap="square" rtlCol="0" anchor="t"/>
          <a:lstStyle/>
          <a:p>
            <a:pPr indent="0" marL="0">
              <a:buNone/>
            </a:pPr>
            <a:r>
              <a:rPr lang="en-US" sz="1300" b="1" dirty="0">
                <a:solidFill>
                  <a:srgbClr val="2D2D2D"/>
                </a:solidFill>
                <a:latin typeface="Calibri" pitchFamily="34" charset="0"/>
                <a:ea typeface="Calibri" pitchFamily="34" charset="-122"/>
                <a:cs typeface="Calibri" pitchFamily="34" charset="-120"/>
              </a:rPr>
              <a:t>AI agent orchestration via chat</a:t>
            </a:r>
            <a:endParaRPr lang="en-US" sz="1300" dirty="0"/>
          </a:p>
        </p:txBody>
      </p:sp>
      <p:sp>
        <p:nvSpPr>
          <p:cNvPr id="6" name="Text 4"/>
          <p:cNvSpPr/>
          <p:nvPr/>
        </p:nvSpPr>
        <p:spPr>
          <a:xfrm>
            <a:off x="594360" y="1920240"/>
            <a:ext cx="5227168" cy="1005840"/>
          </a:xfrm>
          <a:prstGeom prst="rect">
            <a:avLst/>
          </a:prstGeom>
          <a:noFill/>
          <a:ln/>
        </p:spPr>
        <p:txBody>
          <a:bodyPr wrap="square" rtlCol="0" anchor="t"/>
          <a:lstStyle/>
          <a:p>
            <a:pPr indent="0" marL="0">
              <a:lnSpc>
                <a:spcPct val="125000"/>
              </a:lnSpc>
              <a:buNone/>
            </a:pPr>
            <a:r>
              <a:rPr lang="en-US" sz="1150" dirty="0">
                <a:solidFill>
                  <a:srgbClr val="2D2D2D"/>
                </a:solidFill>
                <a:latin typeface="Calibri" pitchFamily="34" charset="0"/>
                <a:ea typeface="Calibri" pitchFamily="34" charset="-122"/>
                <a:cs typeface="Calibri" pitchFamily="34" charset="-120"/>
              </a:rPr>
              <a:t>Three agents, one conversation. Users describe what they need, the system routes, actions are confirmed — no configuration knowledge required.</a:t>
            </a:r>
            <a:endParaRPr lang="en-US" sz="1150" dirty="0"/>
          </a:p>
        </p:txBody>
      </p:sp>
      <p:sp>
        <p:nvSpPr>
          <p:cNvPr id="7" name="Shape 5"/>
          <p:cNvSpPr/>
          <p:nvPr/>
        </p:nvSpPr>
        <p:spPr>
          <a:xfrm>
            <a:off x="6233008" y="1188720"/>
            <a:ext cx="5501488" cy="1828800"/>
          </a:xfrm>
          <a:prstGeom prst="rect">
            <a:avLst/>
          </a:prstGeom>
          <a:solidFill>
            <a:srgbClr val="F5F4F0"/>
          </a:solidFill>
          <a:ln/>
        </p:spPr>
      </p:sp>
      <p:sp>
        <p:nvSpPr>
          <p:cNvPr id="8" name="Text 6"/>
          <p:cNvSpPr/>
          <p:nvPr/>
        </p:nvSpPr>
        <p:spPr>
          <a:xfrm>
            <a:off x="6370168" y="1261872"/>
            <a:ext cx="457200" cy="274320"/>
          </a:xfrm>
          <a:prstGeom prst="rect">
            <a:avLst/>
          </a:prstGeom>
          <a:noFill/>
          <a:ln/>
        </p:spPr>
        <p:txBody>
          <a:bodyPr wrap="square" rtlCol="0" anchor="ctr"/>
          <a:lstStyle/>
          <a:p>
            <a:pPr indent="0" marL="0">
              <a:buNone/>
            </a:pPr>
            <a:r>
              <a:rPr lang="en-US" sz="1100" b="1" dirty="0">
                <a:solidFill>
                  <a:srgbClr val="3B3066"/>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6370168" y="1554480"/>
            <a:ext cx="5227168" cy="320040"/>
          </a:xfrm>
          <a:prstGeom prst="rect">
            <a:avLst/>
          </a:prstGeom>
          <a:noFill/>
          <a:ln/>
        </p:spPr>
        <p:txBody>
          <a:bodyPr wrap="square" rtlCol="0" anchor="t"/>
          <a:lstStyle/>
          <a:p>
            <a:pPr indent="0" marL="0">
              <a:buNone/>
            </a:pPr>
            <a:r>
              <a:rPr lang="en-US" sz="1300" b="1" dirty="0">
                <a:solidFill>
                  <a:srgbClr val="2D2D2D"/>
                </a:solidFill>
                <a:latin typeface="Calibri" pitchFamily="34" charset="0"/>
                <a:ea typeface="Calibri" pitchFamily="34" charset="-122"/>
                <a:cs typeface="Calibri" pitchFamily="34" charset="-120"/>
              </a:rPr>
              <a:t>60+ production-ready components</a:t>
            </a:r>
            <a:endParaRPr lang="en-US" sz="1300" dirty="0"/>
          </a:p>
        </p:txBody>
      </p:sp>
      <p:sp>
        <p:nvSpPr>
          <p:cNvPr id="10" name="Text 8"/>
          <p:cNvSpPr/>
          <p:nvPr/>
        </p:nvSpPr>
        <p:spPr>
          <a:xfrm>
            <a:off x="6370168" y="1920240"/>
            <a:ext cx="5227168" cy="1005840"/>
          </a:xfrm>
          <a:prstGeom prst="rect">
            <a:avLst/>
          </a:prstGeom>
          <a:noFill/>
          <a:ln/>
        </p:spPr>
        <p:txBody>
          <a:bodyPr wrap="square" rtlCol="0" anchor="t"/>
          <a:lstStyle/>
          <a:p>
            <a:pPr indent="0" marL="0">
              <a:lnSpc>
                <a:spcPct val="125000"/>
              </a:lnSpc>
              <a:buNone/>
            </a:pPr>
            <a:r>
              <a:rPr lang="en-US" sz="1150" dirty="0">
                <a:solidFill>
                  <a:srgbClr val="2D2D2D"/>
                </a:solidFill>
                <a:latin typeface="Calibri" pitchFamily="34" charset="0"/>
                <a:ea typeface="Calibri" pitchFamily="34" charset="-122"/>
                <a:cs typeface="Calibri" pitchFamily="34" charset="-120"/>
              </a:rPr>
              <a:t>Agent config cards, workflow status indicators, data extraction previews. Built for fullscreen, sidebar, and embedded contexts.</a:t>
            </a:r>
            <a:endParaRPr lang="en-US" sz="1150" dirty="0"/>
          </a:p>
        </p:txBody>
      </p:sp>
      <p:sp>
        <p:nvSpPr>
          <p:cNvPr id="11" name="Shape 9"/>
          <p:cNvSpPr/>
          <p:nvPr/>
        </p:nvSpPr>
        <p:spPr>
          <a:xfrm>
            <a:off x="457200" y="3246120"/>
            <a:ext cx="5501488" cy="1828800"/>
          </a:xfrm>
          <a:prstGeom prst="rect">
            <a:avLst/>
          </a:prstGeom>
          <a:solidFill>
            <a:srgbClr val="F5F4F0"/>
          </a:solidFill>
          <a:ln/>
        </p:spPr>
      </p:sp>
      <p:sp>
        <p:nvSpPr>
          <p:cNvPr id="12" name="Text 10"/>
          <p:cNvSpPr/>
          <p:nvPr/>
        </p:nvSpPr>
        <p:spPr>
          <a:xfrm>
            <a:off x="594360" y="3319272"/>
            <a:ext cx="457200" cy="274320"/>
          </a:xfrm>
          <a:prstGeom prst="rect">
            <a:avLst/>
          </a:prstGeom>
          <a:noFill/>
          <a:ln/>
        </p:spPr>
        <p:txBody>
          <a:bodyPr wrap="square" rtlCol="0" anchor="ctr"/>
          <a:lstStyle/>
          <a:p>
            <a:pPr indent="0" marL="0">
              <a:buNone/>
            </a:pPr>
            <a:r>
              <a:rPr lang="en-US" sz="1100" b="1" dirty="0">
                <a:solidFill>
                  <a:srgbClr val="3B3066"/>
                </a:solidFill>
                <a:latin typeface="Calibri" pitchFamily="34" charset="0"/>
                <a:ea typeface="Calibri" pitchFamily="34" charset="-122"/>
                <a:cs typeface="Calibri" pitchFamily="34" charset="-120"/>
              </a:rPr>
              <a:t>03</a:t>
            </a:r>
            <a:endParaRPr lang="en-US" sz="1100" dirty="0"/>
          </a:p>
        </p:txBody>
      </p:sp>
      <p:sp>
        <p:nvSpPr>
          <p:cNvPr id="13" name="Text 11"/>
          <p:cNvSpPr/>
          <p:nvPr/>
        </p:nvSpPr>
        <p:spPr>
          <a:xfrm>
            <a:off x="594360" y="3611880"/>
            <a:ext cx="5227168" cy="320040"/>
          </a:xfrm>
          <a:prstGeom prst="rect">
            <a:avLst/>
          </a:prstGeom>
          <a:noFill/>
          <a:ln/>
        </p:spPr>
        <p:txBody>
          <a:bodyPr wrap="square" rtlCol="0" anchor="t"/>
          <a:lstStyle/>
          <a:p>
            <a:pPr indent="0" marL="0">
              <a:buNone/>
            </a:pPr>
            <a:r>
              <a:rPr lang="en-US" sz="1300" b="1" dirty="0">
                <a:solidFill>
                  <a:srgbClr val="2D2D2D"/>
                </a:solidFill>
                <a:latin typeface="Calibri" pitchFamily="34" charset="0"/>
                <a:ea typeface="Calibri" pitchFamily="34" charset="-122"/>
                <a:cs typeface="Calibri" pitchFamily="34" charset="-120"/>
              </a:rPr>
              <a:t>The company's first design system</a:t>
            </a:r>
            <a:endParaRPr lang="en-US" sz="1300" dirty="0"/>
          </a:p>
        </p:txBody>
      </p:sp>
      <p:sp>
        <p:nvSpPr>
          <p:cNvPr id="14" name="Text 12"/>
          <p:cNvSpPr/>
          <p:nvPr/>
        </p:nvSpPr>
        <p:spPr>
          <a:xfrm>
            <a:off x="594360" y="3977640"/>
            <a:ext cx="5227168" cy="1005840"/>
          </a:xfrm>
          <a:prstGeom prst="rect">
            <a:avLst/>
          </a:prstGeom>
          <a:noFill/>
          <a:ln/>
        </p:spPr>
        <p:txBody>
          <a:bodyPr wrap="square" rtlCol="0" anchor="t"/>
          <a:lstStyle/>
          <a:p>
            <a:pPr indent="0" marL="0">
              <a:lnSpc>
                <a:spcPct val="125000"/>
              </a:lnSpc>
              <a:buNone/>
            </a:pPr>
            <a:r>
              <a:rPr lang="en-US" sz="1150" dirty="0">
                <a:solidFill>
                  <a:srgbClr val="2D2D2D"/>
                </a:solidFill>
                <a:latin typeface="Calibri" pitchFamily="34" charset="0"/>
                <a:ea typeface="Calibri" pitchFamily="34" charset="-122"/>
                <a:cs typeface="Calibri" pitchFamily="34" charset="-120"/>
              </a:rPr>
              <a:t>8px grid, semantic tokens, typography, spacing, language guidelines, motion docs. Engineers pulled directly from Storybook.</a:t>
            </a:r>
            <a:endParaRPr lang="en-US" sz="1150" dirty="0"/>
          </a:p>
        </p:txBody>
      </p:sp>
      <p:sp>
        <p:nvSpPr>
          <p:cNvPr id="15" name="Shape 13"/>
          <p:cNvSpPr/>
          <p:nvPr/>
        </p:nvSpPr>
        <p:spPr>
          <a:xfrm>
            <a:off x="6233008" y="3246120"/>
            <a:ext cx="5501488" cy="1828800"/>
          </a:xfrm>
          <a:prstGeom prst="rect">
            <a:avLst/>
          </a:prstGeom>
          <a:solidFill>
            <a:srgbClr val="F5F4F0"/>
          </a:solidFill>
          <a:ln/>
        </p:spPr>
      </p:sp>
      <p:sp>
        <p:nvSpPr>
          <p:cNvPr id="16" name="Text 14"/>
          <p:cNvSpPr/>
          <p:nvPr/>
        </p:nvSpPr>
        <p:spPr>
          <a:xfrm>
            <a:off x="6370168" y="3319272"/>
            <a:ext cx="457200" cy="274320"/>
          </a:xfrm>
          <a:prstGeom prst="rect">
            <a:avLst/>
          </a:prstGeom>
          <a:noFill/>
          <a:ln/>
        </p:spPr>
        <p:txBody>
          <a:bodyPr wrap="square" rtlCol="0" anchor="ctr"/>
          <a:lstStyle/>
          <a:p>
            <a:pPr indent="0" marL="0">
              <a:buNone/>
            </a:pPr>
            <a:r>
              <a:rPr lang="en-US" sz="1100" b="1" dirty="0">
                <a:solidFill>
                  <a:srgbClr val="3B3066"/>
                </a:solidFill>
                <a:latin typeface="Calibri" pitchFamily="34" charset="0"/>
                <a:ea typeface="Calibri" pitchFamily="34" charset="-122"/>
                <a:cs typeface="Calibri" pitchFamily="34" charset="-120"/>
              </a:rPr>
              <a:t>04</a:t>
            </a:r>
            <a:endParaRPr lang="en-US" sz="1100" dirty="0"/>
          </a:p>
        </p:txBody>
      </p:sp>
      <p:sp>
        <p:nvSpPr>
          <p:cNvPr id="17" name="Text 15"/>
          <p:cNvSpPr/>
          <p:nvPr/>
        </p:nvSpPr>
        <p:spPr>
          <a:xfrm>
            <a:off x="6370168" y="3611880"/>
            <a:ext cx="5227168" cy="320040"/>
          </a:xfrm>
          <a:prstGeom prst="rect">
            <a:avLst/>
          </a:prstGeom>
          <a:noFill/>
          <a:ln/>
        </p:spPr>
        <p:txBody>
          <a:bodyPr wrap="square" rtlCol="0" anchor="t"/>
          <a:lstStyle/>
          <a:p>
            <a:pPr indent="0" marL="0">
              <a:buNone/>
            </a:pPr>
            <a:r>
              <a:rPr lang="en-US" sz="1300" b="1" dirty="0">
                <a:solidFill>
                  <a:srgbClr val="2D2D2D"/>
                </a:solidFill>
                <a:latin typeface="Calibri" pitchFamily="34" charset="0"/>
                <a:ea typeface="Calibri" pitchFamily="34" charset="-122"/>
                <a:cs typeface="Calibri" pitchFamily="34" charset="-120"/>
              </a:rPr>
              <a:t>AI-native pipeline</a:t>
            </a:r>
            <a:endParaRPr lang="en-US" sz="1300" dirty="0"/>
          </a:p>
        </p:txBody>
      </p:sp>
      <p:sp>
        <p:nvSpPr>
          <p:cNvPr id="18" name="Text 16"/>
          <p:cNvSpPr/>
          <p:nvPr/>
        </p:nvSpPr>
        <p:spPr>
          <a:xfrm>
            <a:off x="6370168" y="3977640"/>
            <a:ext cx="5227168" cy="1005840"/>
          </a:xfrm>
          <a:prstGeom prst="rect">
            <a:avLst/>
          </a:prstGeom>
          <a:noFill/>
          <a:ln/>
        </p:spPr>
        <p:txBody>
          <a:bodyPr wrap="square" rtlCol="0" anchor="t"/>
          <a:lstStyle/>
          <a:p>
            <a:pPr indent="0" marL="0">
              <a:lnSpc>
                <a:spcPct val="125000"/>
              </a:lnSpc>
              <a:buNone/>
            </a:pPr>
            <a:r>
              <a:rPr lang="en-US" sz="1150" dirty="0">
                <a:solidFill>
                  <a:srgbClr val="2D2D2D"/>
                </a:solidFill>
                <a:latin typeface="Calibri" pitchFamily="34" charset="0"/>
                <a:ea typeface="Calibri" pitchFamily="34" charset="-122"/>
                <a:cs typeface="Calibri" pitchFamily="34" charset="-120"/>
              </a:rPr>
              <a:t>Figma → Figma Make / Magic Patterns → GitHub → Engineering. Prototype to production in hours when a demo needed it.</a:t>
            </a:r>
            <a:endParaRPr lang="en-US" sz="1150" dirty="0"/>
          </a:p>
        </p:txBody>
      </p:sp>
      <p:pic>
        <p:nvPicPr>
          <p:cNvPr id="19" name="Image 0" descr="/Users/jacki/Documents/My-vault/My-projects/portfolio-2/public/xy/storybook.png">    </p:cNvPr>
          <p:cNvPicPr>
            <a:picLocks noChangeAspect="1"/>
          </p:cNvPicPr>
          <p:nvPr/>
        </p:nvPicPr>
        <p:blipFill>
          <a:blip r:embed="rId1"/>
          <a:srcRect l="0" r="0" t="0" b="0"/>
          <a:stretch/>
        </p:blipFill>
        <p:spPr>
          <a:xfrm>
            <a:off x="8534095" y="5029200"/>
            <a:ext cx="3200400" cy="1645920"/>
          </a:xfrm>
          <a:prstGeom prst="rect">
            <a:avLst/>
          </a:prstGeom>
        </p:spPr>
      </p:pic>
      <p:sp>
        <p:nvSpPr>
          <p:cNvPr id="20" name="Text 17"/>
          <p:cNvSpPr/>
          <p:nvPr/>
        </p:nvSpPr>
        <p:spPr>
          <a:xfrm>
            <a:off x="457200" y="5303520"/>
            <a:ext cx="8076895" cy="365760"/>
          </a:xfrm>
          <a:prstGeom prst="rect">
            <a:avLst/>
          </a:prstGeom>
          <a:noFill/>
          <a:ln/>
        </p:spPr>
        <p:txBody>
          <a:bodyPr wrap="square" rtlCol="0" anchor="ctr"/>
          <a:lstStyle/>
          <a:p>
            <a:pPr algn="r" indent="0" marL="0">
              <a:buNone/>
            </a:pPr>
            <a:r>
              <a:rPr lang="en-US" sz="1000" i="1" dirty="0">
                <a:solidFill>
                  <a:srgbClr val="888888"/>
                </a:solidFill>
                <a:latin typeface="Calibri Light" pitchFamily="34" charset="0"/>
                <a:ea typeface="Calibri Light" pitchFamily="34" charset="-122"/>
                <a:cs typeface="Calibri Light" pitchFamily="34" charset="-120"/>
              </a:rPr>
              <a:t>60+ components, production-wired to Temporal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Impact</a:t>
            </a:r>
            <a:endParaRPr lang="en-US" sz="3600" dirty="0"/>
          </a:p>
        </p:txBody>
      </p:sp>
      <p:sp>
        <p:nvSpPr>
          <p:cNvPr id="3" name="Shape 1"/>
          <p:cNvSpPr/>
          <p:nvPr/>
        </p:nvSpPr>
        <p:spPr>
          <a:xfrm>
            <a:off x="914400" y="1371600"/>
            <a:ext cx="10362895" cy="1645920"/>
          </a:xfrm>
          <a:prstGeom prst="rect">
            <a:avLst/>
          </a:prstGeom>
          <a:solidFill>
            <a:srgbClr val="3B3066"/>
          </a:solidFill>
          <a:ln/>
        </p:spPr>
      </p:sp>
      <p:sp>
        <p:nvSpPr>
          <p:cNvPr id="4" name="Text 2"/>
          <p:cNvSpPr/>
          <p:nvPr/>
        </p:nvSpPr>
        <p:spPr>
          <a:xfrm>
            <a:off x="1188720" y="1463040"/>
            <a:ext cx="9814255" cy="1097280"/>
          </a:xfrm>
          <a:prstGeom prst="rect">
            <a:avLst/>
          </a:prstGeom>
          <a:noFill/>
          <a:ln/>
        </p:spPr>
        <p:txBody>
          <a:bodyPr wrap="square" rtlCol="0" anchor="ctr"/>
          <a:lstStyle/>
          <a:p>
            <a:pPr indent="0" marL="0">
              <a:lnSpc>
                <a:spcPct val="130000"/>
              </a:lnSpc>
              <a:buNone/>
            </a:pPr>
            <a:r>
              <a:rPr lang="en-US" sz="1600" b="1" i="1" dirty="0">
                <a:solidFill>
                  <a:srgbClr val="FFFFFF"/>
                </a:solidFill>
                <a:latin typeface="Georgia" pitchFamily="34" charset="0"/>
                <a:ea typeface="Georgia" pitchFamily="34" charset="-122"/>
                <a:cs typeface="Georgia" pitchFamily="34" charset="-120"/>
              </a:rPr>
              <a:t>"Your design instinct is really strong, and that's hard to teach. The visual design combined with the UX — you did some really good work here."</a:t>
            </a:r>
            <a:endParaRPr lang="en-US" sz="1600" dirty="0"/>
          </a:p>
        </p:txBody>
      </p:sp>
      <p:sp>
        <p:nvSpPr>
          <p:cNvPr id="5" name="Text 3"/>
          <p:cNvSpPr/>
          <p:nvPr/>
        </p:nvSpPr>
        <p:spPr>
          <a:xfrm>
            <a:off x="1188720" y="2651760"/>
            <a:ext cx="9814255" cy="274320"/>
          </a:xfrm>
          <a:prstGeom prst="rect">
            <a:avLst/>
          </a:prstGeom>
          <a:noFill/>
          <a:ln/>
        </p:spPr>
        <p:txBody>
          <a:bodyPr wrap="square" rtlCol="0" anchor="ctr"/>
          <a:lstStyle/>
          <a:p>
            <a:pPr algn="r" indent="0" marL="0">
              <a:buNone/>
            </a:pPr>
            <a:r>
              <a:rPr lang="en-US" sz="1100" dirty="0">
                <a:solidFill>
                  <a:srgbClr val="AAAAAA"/>
                </a:solidFill>
                <a:latin typeface="Calibri" pitchFamily="34" charset="0"/>
                <a:ea typeface="Calibri" pitchFamily="34" charset="-122"/>
                <a:cs typeface="Calibri" pitchFamily="34" charset="-120"/>
              </a:rPr>
              <a:t>— Scott Cressman, CPO at XY</a:t>
            </a:r>
            <a:endParaRPr lang="en-US" sz="1100" dirty="0"/>
          </a:p>
        </p:txBody>
      </p:sp>
      <p:sp>
        <p:nvSpPr>
          <p:cNvPr id="6" name="Text 4"/>
          <p:cNvSpPr/>
          <p:nvPr/>
        </p:nvSpPr>
        <p:spPr>
          <a:xfrm>
            <a:off x="731520" y="3291840"/>
            <a:ext cx="10728655" cy="502920"/>
          </a:xfrm>
          <a:prstGeom prst="rect">
            <a:avLst/>
          </a:prstGeom>
          <a:noFill/>
          <a:ln/>
        </p:spPr>
        <p:txBody>
          <a:bodyPr wrap="square" rtlCol="0" anchor="t"/>
          <a:lstStyle/>
          <a:p>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The self-serve AI orchestration experience became a core sales asset. The CEO pitched it directly to enterprise customers — no engineer needed in the room.</a:t>
            </a:r>
            <a:endParaRPr lang="en-US" sz="1200" dirty="0"/>
          </a:p>
        </p:txBody>
      </p:sp>
      <p:sp>
        <p:nvSpPr>
          <p:cNvPr id="7" name="Text 5"/>
          <p:cNvSpPr/>
          <p:nvPr/>
        </p:nvSpPr>
        <p:spPr>
          <a:xfrm>
            <a:off x="731520" y="3840480"/>
            <a:ext cx="10728655" cy="502920"/>
          </a:xfrm>
          <a:prstGeom prst="rect">
            <a:avLst/>
          </a:prstGeom>
          <a:noFill/>
          <a:ln/>
        </p:spPr>
        <p:txBody>
          <a:bodyPr wrap="square" rtlCol="0" anchor="t"/>
          <a:lstStyle/>
          <a:p>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Components were production-wired to Temporal for live agent orchestration — not prototypes, not mockups.</a:t>
            </a:r>
            <a:endParaRPr lang="en-US" sz="1200" dirty="0"/>
          </a:p>
        </p:txBody>
      </p:sp>
      <p:sp>
        <p:nvSpPr>
          <p:cNvPr id="8" name="Text 6"/>
          <p:cNvSpPr/>
          <p:nvPr/>
        </p:nvSpPr>
        <p:spPr>
          <a:xfrm>
            <a:off x="731520" y="4389120"/>
            <a:ext cx="10728655" cy="502920"/>
          </a:xfrm>
          <a:prstGeom prst="rect">
            <a:avLst/>
          </a:prstGeom>
          <a:noFill/>
          <a:ln/>
        </p:spPr>
        <p:txBody>
          <a:bodyPr wrap="square" rtlCol="0" anchor="t"/>
          <a:lstStyle/>
          <a:p>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Users during testing: "This is so cool. It makes perfect sense to make these complex flows chat-friendly."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XY Corp: What I'd do differently</a:t>
            </a:r>
            <a:endParaRPr lang="en-US" sz="3600" dirty="0"/>
          </a:p>
        </p:txBody>
      </p:sp>
      <p:sp>
        <p:nvSpPr>
          <p:cNvPr id="3" name="Shape 1"/>
          <p:cNvSpPr/>
          <p:nvPr/>
        </p:nvSpPr>
        <p:spPr>
          <a:xfrm>
            <a:off x="457200" y="1188720"/>
            <a:ext cx="11277295" cy="4114800"/>
          </a:xfrm>
          <a:prstGeom prst="rect">
            <a:avLst/>
          </a:prstGeom>
          <a:solidFill>
            <a:srgbClr val="F5F4F0"/>
          </a:solidFill>
          <a:ln/>
        </p:spPr>
      </p:sp>
      <p:sp>
        <p:nvSpPr>
          <p:cNvPr id="4" name="Text 2"/>
          <p:cNvSpPr/>
          <p:nvPr/>
        </p:nvSpPr>
        <p:spPr>
          <a:xfrm>
            <a:off x="731520" y="1371600"/>
            <a:ext cx="10728655" cy="3657600"/>
          </a:xfrm>
          <a:prstGeom prst="rect">
            <a:avLst/>
          </a:prstGeom>
          <a:noFill/>
          <a:ln/>
        </p:spPr>
        <p:txBody>
          <a:bodyPr wrap="square" rtlCol="0" anchor="t"/>
          <a:lstStyle/>
          <a:p>
            <a:pPr indent="0" marL="0">
              <a:lnSpc>
                <a:spcPct val="135000"/>
              </a:lnSpc>
              <a:buNone/>
            </a:pPr>
            <a:r>
              <a:rPr lang="en-US" sz="1400" dirty="0">
                <a:solidFill>
                  <a:srgbClr val="2D2D2D"/>
                </a:solidFill>
                <a:latin typeface="Calibri" pitchFamily="34" charset="0"/>
                <a:ea typeface="Calibri" pitchFamily="34" charset="-122"/>
                <a:cs typeface="Calibri" pitchFamily="34" charset="-120"/>
              </a:rPr>
              <a:t>I built fast and I built real — but I was heads down with the CPO and didn't have enough visibility into what engineering was building in parallel.
</a:t>
            </a:r>
            <a:pPr indent="0" marL="0">
              <a:lnSpc>
                <a:spcPct val="135000"/>
              </a:lnSpc>
              <a:buNone/>
            </a:pPr>
            <a:r>
              <a:rPr lang="en-US" sz="1400" dirty="0">
                <a:solidFill>
                  <a:srgbClr val="2D2D2D"/>
                </a:solidFill>
                <a:latin typeface="Calibri" pitchFamily="34" charset="0"/>
                <a:ea typeface="Calibri" pitchFamily="34" charset="-122"/>
                <a:cs typeface="Calibri" pitchFamily="34" charset="-120"/>
              </a:rPr>
              <a:t>Components were getting created for demos that I never saw, which meant the design system and the codebase drifted faster than I could close the gap.
</a:t>
            </a:r>
            <a:pPr indent="0" marL="0">
              <a:lnSpc>
                <a:spcPct val="135000"/>
              </a:lnSpc>
              <a:buNone/>
            </a:pPr>
            <a:r>
              <a:rPr lang="en-US" sz="1400" dirty="0">
                <a:solidFill>
                  <a:srgbClr val="2D2D2D"/>
                </a:solidFill>
                <a:latin typeface="Calibri" pitchFamily="34" charset="0"/>
                <a:ea typeface="Calibri" pitchFamily="34" charset="-122"/>
                <a:cs typeface="Calibri" pitchFamily="34" charset="-120"/>
              </a:rPr>
              <a:t>If I did it again: </a:t>
            </a:r>
            <a:pPr indent="0" marL="0">
              <a:lnSpc>
                <a:spcPct val="135000"/>
              </a:lnSpc>
              <a:buNone/>
            </a:pPr>
            <a:r>
              <a:rPr lang="en-US" sz="1400" dirty="0">
                <a:solidFill>
                  <a:srgbClr val="2D2D2D"/>
                </a:solidFill>
                <a:latin typeface="Calibri" pitchFamily="34" charset="0"/>
                <a:ea typeface="Calibri" pitchFamily="34" charset="-122"/>
                <a:cs typeface="Calibri" pitchFamily="34" charset="-120"/>
              </a:rPr>
              <a:t>I'd establish a weekly design-engineering sync from day one. Not a status meeting — a component review. Fifteen minutes to surface anything new in code that design needs to absorb.
</a:t>
            </a:r>
            <a:pPr indent="0" marL="0">
              <a:lnSpc>
                <a:spcPct val="135000"/>
              </a:lnSpc>
              <a:buNone/>
            </a:pPr>
            <a:r>
              <a:rPr lang="en-US" sz="1500" b="1" dirty="0">
                <a:solidFill>
                  <a:srgbClr val="3B3066"/>
                </a:solidFill>
                <a:latin typeface="Calibri" pitchFamily="34" charset="0"/>
                <a:ea typeface="Calibri" pitchFamily="34" charset="-122"/>
                <a:cs typeface="Calibri" pitchFamily="34" charset="-120"/>
              </a:rPr>
              <a:t>That's also exactly what I'd bring to Jiro on day one.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2286000"/>
            <a:ext cx="11277295" cy="1371600"/>
          </a:xfrm>
          <a:prstGeom prst="rect">
            <a:avLst/>
          </a:prstGeom>
          <a:noFill/>
          <a:ln/>
        </p:spPr>
        <p:txBody>
          <a:bodyPr wrap="square" rtlCol="0" anchor="ctr"/>
          <a:lstStyle/>
          <a:p>
            <a:pPr algn="ctr" indent="0" marL="0">
              <a:buNone/>
            </a:pPr>
            <a:r>
              <a:rPr lang="en-US" sz="3600" b="1" i="1" dirty="0">
                <a:solidFill>
                  <a:srgbClr val="FFFFFF"/>
                </a:solidFill>
                <a:latin typeface="Georgia" pitchFamily="34" charset="0"/>
                <a:ea typeface="Georgia" pitchFamily="34" charset="-122"/>
                <a:cs typeface="Georgia" pitchFamily="34" charset="-120"/>
              </a:rPr>
              <a:t>A few other things I've built.</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Waldo Health — Zero-to-one patient app</a:t>
            </a:r>
            <a:endParaRPr lang="en-US" sz="3600" dirty="0"/>
          </a:p>
        </p:txBody>
      </p:sp>
      <p:pic>
        <p:nvPicPr>
          <p:cNvPr id="3" name="Image 0" descr="/Users/jacki/Documents/My-vault/My-projects/portfolio-2/public/waldo/dashboard.png">    </p:cNvPr>
          <p:cNvPicPr>
            <a:picLocks noChangeAspect="1"/>
          </p:cNvPicPr>
          <p:nvPr/>
        </p:nvPicPr>
        <p:blipFill>
          <a:blip r:embed="rId1"/>
          <a:srcRect l="0" r="0" t="0" b="0"/>
          <a:stretch/>
        </p:blipFill>
        <p:spPr>
          <a:xfrm>
            <a:off x="6370168" y="1097280"/>
            <a:ext cx="5364328" cy="4572000"/>
          </a:xfrm>
          <a:prstGeom prst="rect">
            <a:avLst/>
          </a:prstGeom>
        </p:spPr>
      </p:pic>
      <p:sp>
        <p:nvSpPr>
          <p:cNvPr id="4" name="Text 1"/>
          <p:cNvSpPr/>
          <p:nvPr/>
        </p:nvSpPr>
        <p:spPr>
          <a:xfrm>
            <a:off x="457200" y="1097280"/>
            <a:ext cx="5821528" cy="5029200"/>
          </a:xfrm>
          <a:prstGeom prst="rect">
            <a:avLst/>
          </a:prstGeom>
          <a:noFill/>
          <a:ln/>
        </p:spPr>
        <p:txBody>
          <a:bodyPr wrap="square" rtlCol="0" anchor="t"/>
          <a:lstStyle/>
          <a:p>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Waldo is an eye care company — later acquired by Specsavers — selling prescription contact lenses direct to consumer.
</a:t>
            </a:r>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I was the sole designer on the patient-facing mobile app. Doctor portal on one side, patient app on the other — a dual ecosystem where both sides had to work together.
</a:t>
            </a:r>
            <a:pPr indent="0" marL="0">
              <a:lnSpc>
                <a:spcPct val="130000"/>
              </a:lnSpc>
              <a:buNone/>
            </a:pPr>
            <a:r>
              <a:rPr lang="en-US" sz="1400" dirty="0">
                <a:solidFill>
                  <a:srgbClr val="2D2D2D"/>
                </a:solidFill>
                <a:latin typeface="Calibri" pitchFamily="34" charset="0"/>
                <a:ea typeface="Calibri" pitchFamily="34" charset="-122"/>
                <a:cs typeface="Calibri" pitchFamily="34" charset="-120"/>
              </a:rPr>
              <a:t>I owned 100% of the patient app from zero: research, IA, flows, high-fidelity UI, handoff. Under tight budget constraints ($5 in V0 credits), I built an AI-augmented design workflow to move faster without sacrificing quality.
</a:t>
            </a:r>
            <a:pPr indent="0" marL="0">
              <a:lnSpc>
                <a:spcPct val="130000"/>
              </a:lnSpc>
              <a:buNone/>
            </a:pPr>
            <a:r>
              <a:rPr lang="en-US" sz="1500" b="1" dirty="0">
                <a:solidFill>
                  <a:srgbClr val="3B3066"/>
                </a:solidFill>
                <a:latin typeface="Georgia" pitchFamily="34" charset="0"/>
                <a:ea typeface="Georgia" pitchFamily="34" charset="-122"/>
                <a:cs typeface="Georgia" pitchFamily="34" charset="-120"/>
              </a:rPr>
              <a:t>Delivered 1 month early.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More from the portfolio</a:t>
            </a:r>
            <a:endParaRPr lang="en-US" sz="3600" dirty="0"/>
          </a:p>
        </p:txBody>
      </p:sp>
      <p:sp>
        <p:nvSpPr>
          <p:cNvPr id="3" name="Shape 1"/>
          <p:cNvSpPr/>
          <p:nvPr/>
        </p:nvSpPr>
        <p:spPr>
          <a:xfrm>
            <a:off x="457200" y="1188720"/>
            <a:ext cx="3667658" cy="54864"/>
          </a:xfrm>
          <a:prstGeom prst="rect">
            <a:avLst/>
          </a:prstGeom>
          <a:solidFill>
            <a:srgbClr val="0D9488"/>
          </a:solidFill>
          <a:ln/>
        </p:spPr>
      </p:sp>
      <p:sp>
        <p:nvSpPr>
          <p:cNvPr id="4" name="Shape 2"/>
          <p:cNvSpPr/>
          <p:nvPr/>
        </p:nvSpPr>
        <p:spPr>
          <a:xfrm>
            <a:off x="457200" y="1243584"/>
            <a:ext cx="3667658" cy="3657600"/>
          </a:xfrm>
          <a:prstGeom prst="rect">
            <a:avLst/>
          </a:prstGeom>
          <a:solidFill>
            <a:srgbClr val="F5F4F0"/>
          </a:solidFill>
          <a:ln/>
        </p:spPr>
      </p:sp>
      <p:sp>
        <p:nvSpPr>
          <p:cNvPr id="5" name="Text 3"/>
          <p:cNvSpPr/>
          <p:nvPr/>
        </p:nvSpPr>
        <p:spPr>
          <a:xfrm>
            <a:off x="594360" y="1371600"/>
            <a:ext cx="3393338" cy="228600"/>
          </a:xfrm>
          <a:prstGeom prst="rect">
            <a:avLst/>
          </a:prstGeom>
          <a:noFill/>
          <a:ln/>
        </p:spPr>
        <p:txBody>
          <a:bodyPr wrap="square"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FOODTECH</a:t>
            </a:r>
            <a:endParaRPr lang="en-US" sz="900" dirty="0"/>
          </a:p>
        </p:txBody>
      </p:sp>
      <p:sp>
        <p:nvSpPr>
          <p:cNvPr id="6" name="Text 4"/>
          <p:cNvSpPr/>
          <p:nvPr/>
        </p:nvSpPr>
        <p:spPr>
          <a:xfrm>
            <a:off x="594360" y="1645920"/>
            <a:ext cx="3393338" cy="320040"/>
          </a:xfrm>
          <a:prstGeom prst="rect">
            <a:avLst/>
          </a:prstGeom>
          <a:noFill/>
          <a:ln/>
        </p:spPr>
        <p:txBody>
          <a:bodyPr wrap="square" rtlCol="0" anchor="ctr"/>
          <a:lstStyle/>
          <a:p>
            <a:pPr indent="0" marL="0">
              <a:buNone/>
            </a:pPr>
            <a:r>
              <a:rPr lang="en-US" sz="1800" b="1" dirty="0">
                <a:solidFill>
                  <a:srgbClr val="2D2D2D"/>
                </a:solidFill>
                <a:latin typeface="Georgia" pitchFamily="34" charset="0"/>
                <a:ea typeface="Georgia" pitchFamily="34" charset="-122"/>
                <a:cs typeface="Georgia" pitchFamily="34" charset="-120"/>
              </a:rPr>
              <a:t>7dish</a:t>
            </a:r>
            <a:endParaRPr lang="en-US" sz="1800" dirty="0"/>
          </a:p>
        </p:txBody>
      </p:sp>
      <p:sp>
        <p:nvSpPr>
          <p:cNvPr id="7" name="Text 5"/>
          <p:cNvSpPr/>
          <p:nvPr/>
        </p:nvSpPr>
        <p:spPr>
          <a:xfrm>
            <a:off x="594360" y="2011680"/>
            <a:ext cx="3393338" cy="1280160"/>
          </a:xfrm>
          <a:prstGeom prst="rect">
            <a:avLst/>
          </a:prstGeom>
          <a:noFill/>
          <a:ln/>
        </p:spPr>
        <p:txBody>
          <a:bodyPr wrap="square" rtlCol="0" anchor="t"/>
          <a:lstStyle/>
          <a:p>
            <a:pPr indent="0" marL="0">
              <a:lnSpc>
                <a:spcPct val="130000"/>
              </a:lnSpc>
              <a:buNone/>
            </a:pPr>
            <a:r>
              <a:rPr lang="en-US" sz="1150" dirty="0">
                <a:solidFill>
                  <a:srgbClr val="2D2D2D"/>
                </a:solidFill>
                <a:latin typeface="Calibri" pitchFamily="34" charset="0"/>
                <a:ea typeface="Calibri" pitchFamily="34" charset="-122"/>
                <a:cs typeface="Calibri" pitchFamily="34" charset="-120"/>
              </a:rPr>
              <a:t>Meal planning app for working parents. End-to-end product design from research through high-fidelity UI. 3 core flows redesigned, A/B tested, 10/10 users scored 8+.</a:t>
            </a:r>
            <a:endParaRPr lang="en-US" sz="1150" dirty="0"/>
          </a:p>
        </p:txBody>
      </p:sp>
      <p:pic>
        <p:nvPicPr>
          <p:cNvPr id="8" name="Image 0" descr="/Users/jacki/Documents/My-vault/My-projects/portfolio-2/public/7dish/homepage-after.png">    </p:cNvPr>
          <p:cNvPicPr>
            <a:picLocks noChangeAspect="1"/>
          </p:cNvPicPr>
          <p:nvPr/>
        </p:nvPicPr>
        <p:blipFill>
          <a:blip r:embed="rId1"/>
          <a:srcRect l="0" r="0" t="0" b="0"/>
          <a:stretch/>
        </p:blipFill>
        <p:spPr>
          <a:xfrm>
            <a:off x="594360" y="3291840"/>
            <a:ext cx="3393338" cy="1463040"/>
          </a:xfrm>
          <a:prstGeom prst="rect">
            <a:avLst/>
          </a:prstGeom>
        </p:spPr>
      </p:pic>
      <p:sp>
        <p:nvSpPr>
          <p:cNvPr id="9" name="Shape 6"/>
          <p:cNvSpPr/>
          <p:nvPr/>
        </p:nvSpPr>
        <p:spPr>
          <a:xfrm>
            <a:off x="4262018" y="1188720"/>
            <a:ext cx="3667658" cy="54864"/>
          </a:xfrm>
          <a:prstGeom prst="rect">
            <a:avLst/>
          </a:prstGeom>
          <a:solidFill>
            <a:srgbClr val="0891B2"/>
          </a:solidFill>
          <a:ln/>
        </p:spPr>
      </p:sp>
      <p:sp>
        <p:nvSpPr>
          <p:cNvPr id="10" name="Shape 7"/>
          <p:cNvSpPr/>
          <p:nvPr/>
        </p:nvSpPr>
        <p:spPr>
          <a:xfrm>
            <a:off x="4262018" y="1243584"/>
            <a:ext cx="3667658" cy="3657600"/>
          </a:xfrm>
          <a:prstGeom prst="rect">
            <a:avLst/>
          </a:prstGeom>
          <a:solidFill>
            <a:srgbClr val="F5F4F0"/>
          </a:solidFill>
          <a:ln/>
        </p:spPr>
      </p:sp>
      <p:sp>
        <p:nvSpPr>
          <p:cNvPr id="11" name="Text 8"/>
          <p:cNvSpPr/>
          <p:nvPr/>
        </p:nvSpPr>
        <p:spPr>
          <a:xfrm>
            <a:off x="4399178" y="1371600"/>
            <a:ext cx="3393338" cy="228600"/>
          </a:xfrm>
          <a:prstGeom prst="rect">
            <a:avLst/>
          </a:prstGeom>
          <a:noFill/>
          <a:ln/>
        </p:spPr>
        <p:txBody>
          <a:bodyPr wrap="square"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MAC APP</a:t>
            </a:r>
            <a:endParaRPr lang="en-US" sz="900" dirty="0"/>
          </a:p>
        </p:txBody>
      </p:sp>
      <p:sp>
        <p:nvSpPr>
          <p:cNvPr id="12" name="Text 9"/>
          <p:cNvSpPr/>
          <p:nvPr/>
        </p:nvSpPr>
        <p:spPr>
          <a:xfrm>
            <a:off x="4399178" y="1645920"/>
            <a:ext cx="3393338" cy="320040"/>
          </a:xfrm>
          <a:prstGeom prst="rect">
            <a:avLst/>
          </a:prstGeom>
          <a:noFill/>
          <a:ln/>
        </p:spPr>
        <p:txBody>
          <a:bodyPr wrap="square" rtlCol="0" anchor="ctr"/>
          <a:lstStyle/>
          <a:p>
            <a:pPr indent="0" marL="0">
              <a:buNone/>
            </a:pPr>
            <a:r>
              <a:rPr lang="en-US" sz="1800" b="1" dirty="0">
                <a:solidFill>
                  <a:srgbClr val="2D2D2D"/>
                </a:solidFill>
                <a:latin typeface="Georgia" pitchFamily="34" charset="0"/>
                <a:ea typeface="Georgia" pitchFamily="34" charset="-122"/>
                <a:cs typeface="Georgia" pitchFamily="34" charset="-120"/>
              </a:rPr>
              <a:t>SideNook</a:t>
            </a:r>
            <a:endParaRPr lang="en-US" sz="1800" dirty="0"/>
          </a:p>
        </p:txBody>
      </p:sp>
      <p:sp>
        <p:nvSpPr>
          <p:cNvPr id="13" name="Text 10"/>
          <p:cNvSpPr/>
          <p:nvPr/>
        </p:nvSpPr>
        <p:spPr>
          <a:xfrm>
            <a:off x="4399178" y="2011680"/>
            <a:ext cx="3393338" cy="1280160"/>
          </a:xfrm>
          <a:prstGeom prst="rect">
            <a:avLst/>
          </a:prstGeom>
          <a:noFill/>
          <a:ln/>
        </p:spPr>
        <p:txBody>
          <a:bodyPr wrap="square" rtlCol="0" anchor="t"/>
          <a:lstStyle/>
          <a:p>
            <a:pPr indent="0" marL="0">
              <a:lnSpc>
                <a:spcPct val="130000"/>
              </a:lnSpc>
              <a:buNone/>
            </a:pPr>
            <a:r>
              <a:rPr lang="en-US" sz="1150" dirty="0">
                <a:solidFill>
                  <a:srgbClr val="2D2D2D"/>
                </a:solidFill>
                <a:latin typeface="Calibri" pitchFamily="34" charset="0"/>
                <a:ea typeface="Calibri" pitchFamily="34" charset="-122"/>
                <a:cs typeface="Calibri" pitchFamily="34" charset="-120"/>
              </a:rPr>
              <a:t>macOS terminal emulator I designed and built end-to-end as the sole product designer + SwiftUI developer. v1.0 shipped April 2026. AI-native design workflow.</a:t>
            </a:r>
            <a:endParaRPr lang="en-US" sz="1150" dirty="0"/>
          </a:p>
        </p:txBody>
      </p:sp>
      <p:sp>
        <p:nvSpPr>
          <p:cNvPr id="14" name="Shape 11"/>
          <p:cNvSpPr/>
          <p:nvPr/>
        </p:nvSpPr>
        <p:spPr>
          <a:xfrm>
            <a:off x="8066837" y="1188720"/>
            <a:ext cx="3667658" cy="54864"/>
          </a:xfrm>
          <a:prstGeom prst="rect">
            <a:avLst/>
          </a:prstGeom>
          <a:solidFill>
            <a:srgbClr val="059669"/>
          </a:solidFill>
          <a:ln/>
        </p:spPr>
      </p:sp>
      <p:sp>
        <p:nvSpPr>
          <p:cNvPr id="15" name="Shape 12"/>
          <p:cNvSpPr/>
          <p:nvPr/>
        </p:nvSpPr>
        <p:spPr>
          <a:xfrm>
            <a:off x="8066837" y="1243584"/>
            <a:ext cx="3667658" cy="3657600"/>
          </a:xfrm>
          <a:prstGeom prst="rect">
            <a:avLst/>
          </a:prstGeom>
          <a:solidFill>
            <a:srgbClr val="F5F4F0"/>
          </a:solidFill>
          <a:ln/>
        </p:spPr>
      </p:sp>
      <p:sp>
        <p:nvSpPr>
          <p:cNvPr id="16" name="Text 13"/>
          <p:cNvSpPr/>
          <p:nvPr/>
        </p:nvSpPr>
        <p:spPr>
          <a:xfrm>
            <a:off x="8203997" y="1371600"/>
            <a:ext cx="3393338" cy="228600"/>
          </a:xfrm>
          <a:prstGeom prst="rect">
            <a:avLst/>
          </a:prstGeom>
          <a:noFill/>
          <a:ln/>
        </p:spPr>
        <p:txBody>
          <a:bodyPr wrap="square"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FINTECH · AI</a:t>
            </a:r>
            <a:endParaRPr lang="en-US" sz="900" dirty="0"/>
          </a:p>
        </p:txBody>
      </p:sp>
      <p:sp>
        <p:nvSpPr>
          <p:cNvPr id="17" name="Text 14"/>
          <p:cNvSpPr/>
          <p:nvPr/>
        </p:nvSpPr>
        <p:spPr>
          <a:xfrm>
            <a:off x="8203997" y="1645920"/>
            <a:ext cx="3393338" cy="320040"/>
          </a:xfrm>
          <a:prstGeom prst="rect">
            <a:avLst/>
          </a:prstGeom>
          <a:noFill/>
          <a:ln/>
        </p:spPr>
        <p:txBody>
          <a:bodyPr wrap="square" rtlCol="0" anchor="ctr"/>
          <a:lstStyle/>
          <a:p>
            <a:pPr indent="0" marL="0">
              <a:buNone/>
            </a:pPr>
            <a:r>
              <a:rPr lang="en-US" sz="1800" b="1" dirty="0">
                <a:solidFill>
                  <a:srgbClr val="2D2D2D"/>
                </a:solidFill>
                <a:latin typeface="Georgia" pitchFamily="34" charset="0"/>
                <a:ea typeface="Georgia" pitchFamily="34" charset="-122"/>
                <a:cs typeface="Georgia" pitchFamily="34" charset="-120"/>
              </a:rPr>
              <a:t>Fundr</a:t>
            </a:r>
            <a:endParaRPr lang="en-US" sz="1800" dirty="0"/>
          </a:p>
        </p:txBody>
      </p:sp>
      <p:sp>
        <p:nvSpPr>
          <p:cNvPr id="18" name="Text 15"/>
          <p:cNvSpPr/>
          <p:nvPr/>
        </p:nvSpPr>
        <p:spPr>
          <a:xfrm>
            <a:off x="8203997" y="2011680"/>
            <a:ext cx="3393338" cy="1280160"/>
          </a:xfrm>
          <a:prstGeom prst="rect">
            <a:avLst/>
          </a:prstGeom>
          <a:noFill/>
          <a:ln/>
        </p:spPr>
        <p:txBody>
          <a:bodyPr wrap="square" rtlCol="0" anchor="t"/>
          <a:lstStyle/>
          <a:p>
            <a:pPr indent="0" marL="0">
              <a:lnSpc>
                <a:spcPct val="130000"/>
              </a:lnSpc>
              <a:buNone/>
            </a:pPr>
            <a:r>
              <a:rPr lang="en-US" sz="1150" dirty="0">
                <a:solidFill>
                  <a:srgbClr val="2D2D2D"/>
                </a:solidFill>
                <a:latin typeface="Calibri" pitchFamily="34" charset="0"/>
                <a:ea typeface="Calibri" pitchFamily="34" charset="-122"/>
                <a:cs typeface="Calibri" pitchFamily="34" charset="-120"/>
              </a:rPr>
              <a:t>SaaS paywall redesign replacing a sales-call funnel with self-serve upgrade flows. 20% increase in upgrade rates, ~50% fewer sales calls.</a:t>
            </a:r>
            <a:endParaRPr lang="en-US" sz="1150" dirty="0"/>
          </a:p>
        </p:txBody>
      </p:sp>
      <p:pic>
        <p:nvPicPr>
          <p:cNvPr id="19" name="Image 1" descr="/Users/jacki/Documents/My-vault/My-projects/portfolio-2/public/fundr/dashboard-premium.png">    </p:cNvPr>
          <p:cNvPicPr>
            <a:picLocks noChangeAspect="1"/>
          </p:cNvPicPr>
          <p:nvPr/>
        </p:nvPicPr>
        <p:blipFill>
          <a:blip r:embed="rId2"/>
          <a:srcRect l="0" r="0" t="0" b="0"/>
          <a:stretch/>
        </p:blipFill>
        <p:spPr>
          <a:xfrm>
            <a:off x="8203997" y="3291840"/>
            <a:ext cx="3393338" cy="1463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77295" cy="640080"/>
          </a:xfrm>
          <a:prstGeom prst="rect">
            <a:avLst/>
          </a:prstGeom>
          <a:noFill/>
          <a:ln/>
        </p:spPr>
        <p:txBody>
          <a:bodyPr wrap="square" rtlCol="0" anchor="t"/>
          <a:lstStyle/>
          <a:p>
            <a:pPr algn="l" indent="0" marL="0">
              <a:buNone/>
            </a:pPr>
            <a:r>
              <a:rPr lang="en-US" sz="3600" b="1" dirty="0">
                <a:solidFill>
                  <a:srgbClr val="3B3066"/>
                </a:solidFill>
                <a:latin typeface="Georgia" pitchFamily="34" charset="0"/>
                <a:ea typeface="Georgia" pitchFamily="34" charset="-122"/>
                <a:cs typeface="Georgia" pitchFamily="34" charset="-120"/>
              </a:rPr>
              <a:t>Here's how I plug in</a:t>
            </a:r>
            <a:endParaRPr lang="en-US" sz="3600" dirty="0"/>
          </a:p>
        </p:txBody>
      </p:sp>
      <p:sp>
        <p:nvSpPr>
          <p:cNvPr id="3" name="Shape 1"/>
          <p:cNvSpPr/>
          <p:nvPr/>
        </p:nvSpPr>
        <p:spPr>
          <a:xfrm>
            <a:off x="457200" y="1097280"/>
            <a:ext cx="2926080" cy="457200"/>
          </a:xfrm>
          <a:prstGeom prst="rect">
            <a:avLst/>
          </a:prstGeom>
          <a:solidFill>
            <a:srgbClr val="3B3066"/>
          </a:solidFill>
          <a:ln/>
        </p:spPr>
      </p:sp>
      <p:sp>
        <p:nvSpPr>
          <p:cNvPr id="4" name="Text 2"/>
          <p:cNvSpPr/>
          <p:nvPr/>
        </p:nvSpPr>
        <p:spPr>
          <a:xfrm>
            <a:off x="594360" y="1097280"/>
            <a:ext cx="2788920"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Chris's need</a:t>
            </a:r>
            <a:endParaRPr lang="en-US" sz="1100" dirty="0"/>
          </a:p>
        </p:txBody>
      </p:sp>
      <p:sp>
        <p:nvSpPr>
          <p:cNvPr id="5" name="Shape 3"/>
          <p:cNvSpPr/>
          <p:nvPr/>
        </p:nvSpPr>
        <p:spPr>
          <a:xfrm>
            <a:off x="3383280" y="1097280"/>
            <a:ext cx="8351215" cy="457200"/>
          </a:xfrm>
          <a:prstGeom prst="rect">
            <a:avLst/>
          </a:prstGeom>
          <a:solidFill>
            <a:srgbClr val="3B3066"/>
          </a:solidFill>
          <a:ln/>
        </p:spPr>
      </p:sp>
      <p:sp>
        <p:nvSpPr>
          <p:cNvPr id="6" name="Text 4"/>
          <p:cNvSpPr/>
          <p:nvPr/>
        </p:nvSpPr>
        <p:spPr>
          <a:xfrm>
            <a:off x="3520440" y="1097280"/>
            <a:ext cx="8214055"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 bring</a:t>
            </a:r>
            <a:endParaRPr lang="en-US" sz="1100" dirty="0"/>
          </a:p>
        </p:txBody>
      </p:sp>
      <p:sp>
        <p:nvSpPr>
          <p:cNvPr id="7" name="Shape 5"/>
          <p:cNvSpPr/>
          <p:nvPr/>
        </p:nvSpPr>
        <p:spPr>
          <a:xfrm>
            <a:off x="457200" y="1554480"/>
            <a:ext cx="2926080" cy="411480"/>
          </a:xfrm>
          <a:prstGeom prst="rect">
            <a:avLst/>
          </a:prstGeom>
          <a:solidFill>
            <a:srgbClr val="FFFFFF"/>
          </a:solidFill>
          <a:ln/>
        </p:spPr>
      </p:sp>
      <p:sp>
        <p:nvSpPr>
          <p:cNvPr id="8" name="Text 6"/>
          <p:cNvSpPr/>
          <p:nvPr/>
        </p:nvSpPr>
        <p:spPr>
          <a:xfrm>
            <a:off x="594360" y="155448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Design system + code out of sync</a:t>
            </a:r>
            <a:endParaRPr lang="en-US" sz="1000" dirty="0"/>
          </a:p>
        </p:txBody>
      </p:sp>
      <p:sp>
        <p:nvSpPr>
          <p:cNvPr id="9" name="Shape 7"/>
          <p:cNvSpPr/>
          <p:nvPr/>
        </p:nvSpPr>
        <p:spPr>
          <a:xfrm>
            <a:off x="3383280" y="1554480"/>
            <a:ext cx="8351215" cy="411480"/>
          </a:xfrm>
          <a:prstGeom prst="rect">
            <a:avLst/>
          </a:prstGeom>
          <a:solidFill>
            <a:srgbClr val="FFFFFF"/>
          </a:solidFill>
          <a:ln/>
        </p:spPr>
      </p:sp>
      <p:sp>
        <p:nvSpPr>
          <p:cNvPr id="10" name="Text 8"/>
          <p:cNvSpPr/>
          <p:nvPr/>
        </p:nvSpPr>
        <p:spPr>
          <a:xfrm>
            <a:off x="3520440" y="155448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Built XY's first design system and 60+ component Storybook library from zero. Mapped directly to engineering output.</a:t>
            </a:r>
            <a:endParaRPr lang="en-US" sz="900" dirty="0"/>
          </a:p>
        </p:txBody>
      </p:sp>
      <p:sp>
        <p:nvSpPr>
          <p:cNvPr id="11" name="Shape 9"/>
          <p:cNvSpPr/>
          <p:nvPr/>
        </p:nvSpPr>
        <p:spPr>
          <a:xfrm>
            <a:off x="457200" y="1965960"/>
            <a:ext cx="2926080" cy="411480"/>
          </a:xfrm>
          <a:prstGeom prst="rect">
            <a:avLst/>
          </a:prstGeom>
          <a:solidFill>
            <a:srgbClr val="F5F4F0"/>
          </a:solidFill>
          <a:ln/>
        </p:spPr>
      </p:sp>
      <p:sp>
        <p:nvSpPr>
          <p:cNvPr id="12" name="Text 10"/>
          <p:cNvSpPr/>
          <p:nvPr/>
        </p:nvSpPr>
        <p:spPr>
          <a:xfrm>
            <a:off x="594360" y="196596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No time to build the foundation</a:t>
            </a:r>
            <a:endParaRPr lang="en-US" sz="1000" dirty="0"/>
          </a:p>
        </p:txBody>
      </p:sp>
      <p:sp>
        <p:nvSpPr>
          <p:cNvPr id="13" name="Shape 11"/>
          <p:cNvSpPr/>
          <p:nvPr/>
        </p:nvSpPr>
        <p:spPr>
          <a:xfrm>
            <a:off x="3383280" y="1965960"/>
            <a:ext cx="8351215" cy="411480"/>
          </a:xfrm>
          <a:prstGeom prst="rect">
            <a:avLst/>
          </a:prstGeom>
          <a:solidFill>
            <a:srgbClr val="F5F4F0"/>
          </a:solidFill>
          <a:ln/>
        </p:spPr>
      </p:sp>
      <p:sp>
        <p:nvSpPr>
          <p:cNvPr id="14" name="Text 12"/>
          <p:cNvSpPr/>
          <p:nvPr/>
        </p:nvSpPr>
        <p:spPr>
          <a:xfrm>
            <a:off x="3520440" y="196596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I've been the sole designer twice. I build the foundation while still shipping. That's not a mode I switch into — it's how I work.</a:t>
            </a:r>
            <a:endParaRPr lang="en-US" sz="900" dirty="0"/>
          </a:p>
        </p:txBody>
      </p:sp>
      <p:sp>
        <p:nvSpPr>
          <p:cNvPr id="15" name="Shape 13"/>
          <p:cNvSpPr/>
          <p:nvPr/>
        </p:nvSpPr>
        <p:spPr>
          <a:xfrm>
            <a:off x="457200" y="2377440"/>
            <a:ext cx="2926080" cy="411480"/>
          </a:xfrm>
          <a:prstGeom prst="rect">
            <a:avLst/>
          </a:prstGeom>
          <a:solidFill>
            <a:srgbClr val="FFFFFF"/>
          </a:solidFill>
          <a:ln/>
        </p:spPr>
      </p:sp>
      <p:sp>
        <p:nvSpPr>
          <p:cNvPr id="16" name="Text 14"/>
          <p:cNvSpPr/>
          <p:nvPr/>
        </p:nvSpPr>
        <p:spPr>
          <a:xfrm>
            <a:off x="594360" y="237744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Research function is missing</a:t>
            </a:r>
            <a:endParaRPr lang="en-US" sz="1000" dirty="0"/>
          </a:p>
        </p:txBody>
      </p:sp>
      <p:sp>
        <p:nvSpPr>
          <p:cNvPr id="17" name="Shape 15"/>
          <p:cNvSpPr/>
          <p:nvPr/>
        </p:nvSpPr>
        <p:spPr>
          <a:xfrm>
            <a:off x="3383280" y="2377440"/>
            <a:ext cx="8351215" cy="411480"/>
          </a:xfrm>
          <a:prstGeom prst="rect">
            <a:avLst/>
          </a:prstGeom>
          <a:solidFill>
            <a:srgbClr val="FFFFFF"/>
          </a:solidFill>
          <a:ln/>
        </p:spPr>
      </p:sp>
      <p:sp>
        <p:nvSpPr>
          <p:cNvPr id="18" name="Text 16"/>
          <p:cNvSpPr/>
          <p:nvPr/>
        </p:nvSpPr>
        <p:spPr>
          <a:xfrm>
            <a:off x="3520440" y="237744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 install lightweight feedback loops — fast, repeatable, tied to decisions. Not a research program, a research habit.</a:t>
            </a:r>
            <a:endParaRPr lang="en-US" sz="900" dirty="0"/>
          </a:p>
        </p:txBody>
      </p:sp>
      <p:sp>
        <p:nvSpPr>
          <p:cNvPr id="19" name="Shape 17"/>
          <p:cNvSpPr/>
          <p:nvPr/>
        </p:nvSpPr>
        <p:spPr>
          <a:xfrm>
            <a:off x="457200" y="2788920"/>
            <a:ext cx="2926080" cy="411480"/>
          </a:xfrm>
          <a:prstGeom prst="rect">
            <a:avLst/>
          </a:prstGeom>
          <a:solidFill>
            <a:srgbClr val="F5F4F0"/>
          </a:solidFill>
          <a:ln/>
        </p:spPr>
      </p:sp>
      <p:sp>
        <p:nvSpPr>
          <p:cNvPr id="20" name="Text 18"/>
          <p:cNvSpPr/>
          <p:nvPr/>
        </p:nvSpPr>
        <p:spPr>
          <a:xfrm>
            <a:off x="594360" y="278892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Process is hodgepodge</a:t>
            </a:r>
            <a:endParaRPr lang="en-US" sz="1000" dirty="0"/>
          </a:p>
        </p:txBody>
      </p:sp>
      <p:sp>
        <p:nvSpPr>
          <p:cNvPr id="21" name="Shape 19"/>
          <p:cNvSpPr/>
          <p:nvPr/>
        </p:nvSpPr>
        <p:spPr>
          <a:xfrm>
            <a:off x="3383280" y="2788920"/>
            <a:ext cx="8351215" cy="411480"/>
          </a:xfrm>
          <a:prstGeom prst="rect">
            <a:avLst/>
          </a:prstGeom>
          <a:solidFill>
            <a:srgbClr val="F5F4F0"/>
          </a:solidFill>
          <a:ln/>
        </p:spPr>
      </p:sp>
      <p:sp>
        <p:nvSpPr>
          <p:cNvPr id="22" name="Text 20"/>
          <p:cNvSpPr/>
          <p:nvPr/>
        </p:nvSpPr>
        <p:spPr>
          <a:xfrm>
            <a:off x="3520440" y="278892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 bring structure upstream without adding bureaucracy. Problem definition before prototyping is non-negotiable for me.</a:t>
            </a:r>
            <a:endParaRPr lang="en-US" sz="900" dirty="0"/>
          </a:p>
        </p:txBody>
      </p:sp>
      <p:sp>
        <p:nvSpPr>
          <p:cNvPr id="23" name="Shape 21"/>
          <p:cNvSpPr/>
          <p:nvPr/>
        </p:nvSpPr>
        <p:spPr>
          <a:xfrm>
            <a:off x="457200" y="3200400"/>
            <a:ext cx="2926080" cy="411480"/>
          </a:xfrm>
          <a:prstGeom prst="rect">
            <a:avLst/>
          </a:prstGeom>
          <a:solidFill>
            <a:srgbClr val="FFFFFF"/>
          </a:solidFill>
          <a:ln/>
        </p:spPr>
      </p:sp>
      <p:sp>
        <p:nvSpPr>
          <p:cNvPr id="24" name="Text 22"/>
          <p:cNvSpPr/>
          <p:nvPr/>
        </p:nvSpPr>
        <p:spPr>
          <a:xfrm>
            <a:off x="594360" y="320040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PMs jumping straight to Lovable</a:t>
            </a:r>
            <a:endParaRPr lang="en-US" sz="1000" dirty="0"/>
          </a:p>
        </p:txBody>
      </p:sp>
      <p:sp>
        <p:nvSpPr>
          <p:cNvPr id="25" name="Shape 23"/>
          <p:cNvSpPr/>
          <p:nvPr/>
        </p:nvSpPr>
        <p:spPr>
          <a:xfrm>
            <a:off x="3383280" y="3200400"/>
            <a:ext cx="8351215" cy="411480"/>
          </a:xfrm>
          <a:prstGeom prst="rect">
            <a:avLst/>
          </a:prstGeom>
          <a:solidFill>
            <a:srgbClr val="FFFFFF"/>
          </a:solidFill>
          <a:ln/>
        </p:spPr>
      </p:sp>
      <p:sp>
        <p:nvSpPr>
          <p:cNvPr id="26" name="Text 24"/>
          <p:cNvSpPr/>
          <p:nvPr/>
        </p:nvSpPr>
        <p:spPr>
          <a:xfrm>
            <a:off x="3520440" y="320040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 work with PMs before anyone opens a tool — reframe the brief, pressure-test the problem, align on what we're actually solving.</a:t>
            </a:r>
            <a:endParaRPr lang="en-US" sz="900" dirty="0"/>
          </a:p>
        </p:txBody>
      </p:sp>
      <p:sp>
        <p:nvSpPr>
          <p:cNvPr id="27" name="Shape 25"/>
          <p:cNvSpPr/>
          <p:nvPr/>
        </p:nvSpPr>
        <p:spPr>
          <a:xfrm>
            <a:off x="457200" y="3611880"/>
            <a:ext cx="2926080" cy="411480"/>
          </a:xfrm>
          <a:prstGeom prst="rect">
            <a:avLst/>
          </a:prstGeom>
          <a:solidFill>
            <a:srgbClr val="F5F4F0"/>
          </a:solidFill>
          <a:ln/>
        </p:spPr>
      </p:sp>
      <p:sp>
        <p:nvSpPr>
          <p:cNvPr id="28" name="Text 26"/>
          <p:cNvSpPr/>
          <p:nvPr/>
        </p:nvSpPr>
        <p:spPr>
          <a:xfrm>
            <a:off x="594360" y="361188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Prototypes disconnected from code</a:t>
            </a:r>
            <a:endParaRPr lang="en-US" sz="1000" dirty="0"/>
          </a:p>
        </p:txBody>
      </p:sp>
      <p:sp>
        <p:nvSpPr>
          <p:cNvPr id="29" name="Shape 27"/>
          <p:cNvSpPr/>
          <p:nvPr/>
        </p:nvSpPr>
        <p:spPr>
          <a:xfrm>
            <a:off x="3383280" y="3611880"/>
            <a:ext cx="8351215" cy="411480"/>
          </a:xfrm>
          <a:prstGeom prst="rect">
            <a:avLst/>
          </a:prstGeom>
          <a:solidFill>
            <a:srgbClr val="F5F4F0"/>
          </a:solidFill>
          <a:ln/>
        </p:spPr>
      </p:sp>
      <p:sp>
        <p:nvSpPr>
          <p:cNvPr id="30" name="Text 28"/>
          <p:cNvSpPr/>
          <p:nvPr/>
        </p:nvSpPr>
        <p:spPr>
          <a:xfrm>
            <a:off x="3520440" y="361188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 built an AI-native pipeline at XY: Figma → Figma Make → GitHub → Engineering. Prototype to production in hours.</a:t>
            </a:r>
            <a:endParaRPr lang="en-US" sz="900" dirty="0"/>
          </a:p>
        </p:txBody>
      </p:sp>
      <p:sp>
        <p:nvSpPr>
          <p:cNvPr id="31" name="Shape 29"/>
          <p:cNvSpPr/>
          <p:nvPr/>
        </p:nvSpPr>
        <p:spPr>
          <a:xfrm>
            <a:off x="457200" y="4023360"/>
            <a:ext cx="2926080" cy="411480"/>
          </a:xfrm>
          <a:prstGeom prst="rect">
            <a:avLst/>
          </a:prstGeom>
          <a:solidFill>
            <a:srgbClr val="FFFFFF"/>
          </a:solidFill>
          <a:ln/>
        </p:spPr>
      </p:sp>
      <p:sp>
        <p:nvSpPr>
          <p:cNvPr id="32" name="Text 30"/>
          <p:cNvSpPr/>
          <p:nvPr/>
        </p:nvSpPr>
        <p:spPr>
          <a:xfrm>
            <a:off x="594360" y="402336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Volume of execution</a:t>
            </a:r>
            <a:endParaRPr lang="en-US" sz="1000" dirty="0"/>
          </a:p>
        </p:txBody>
      </p:sp>
      <p:sp>
        <p:nvSpPr>
          <p:cNvPr id="33" name="Shape 31"/>
          <p:cNvSpPr/>
          <p:nvPr/>
        </p:nvSpPr>
        <p:spPr>
          <a:xfrm>
            <a:off x="3383280" y="4023360"/>
            <a:ext cx="8351215" cy="411480"/>
          </a:xfrm>
          <a:prstGeom prst="rect">
            <a:avLst/>
          </a:prstGeom>
          <a:solidFill>
            <a:srgbClr val="FFFFFF"/>
          </a:solidFill>
          <a:ln/>
        </p:spPr>
      </p:sp>
      <p:sp>
        <p:nvSpPr>
          <p:cNvPr id="34" name="Text 32"/>
          <p:cNvSpPr/>
          <p:nvPr/>
        </p:nvSpPr>
        <p:spPr>
          <a:xfrm>
            <a:off x="3520440" y="402336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 execute. This isn't a consulting engagement. I'm here to ship.</a:t>
            </a:r>
            <a:endParaRPr lang="en-US" sz="900" dirty="0"/>
          </a:p>
        </p:txBody>
      </p:sp>
      <p:sp>
        <p:nvSpPr>
          <p:cNvPr id="35" name="Shape 33"/>
          <p:cNvSpPr/>
          <p:nvPr/>
        </p:nvSpPr>
        <p:spPr>
          <a:xfrm>
            <a:off x="457200" y="4434840"/>
            <a:ext cx="2926080" cy="411480"/>
          </a:xfrm>
          <a:prstGeom prst="rect">
            <a:avLst/>
          </a:prstGeom>
          <a:solidFill>
            <a:srgbClr val="F5F4F0"/>
          </a:solidFill>
          <a:ln/>
        </p:spPr>
      </p:sp>
      <p:sp>
        <p:nvSpPr>
          <p:cNvPr id="36" name="Text 34"/>
          <p:cNvSpPr/>
          <p:nvPr/>
        </p:nvSpPr>
        <p:spPr>
          <a:xfrm>
            <a:off x="594360" y="4434840"/>
            <a:ext cx="2788920" cy="411480"/>
          </a:xfrm>
          <a:prstGeom prst="rect">
            <a:avLst/>
          </a:prstGeom>
          <a:noFill/>
          <a:ln/>
        </p:spPr>
        <p:txBody>
          <a:bodyPr wrap="square" rtlCol="0" anchor="ctr"/>
          <a:lstStyle/>
          <a:p>
            <a:pPr indent="0" marL="0">
              <a:buNone/>
            </a:pPr>
            <a:r>
              <a:rPr lang="en-US" sz="1000" b="1" dirty="0">
                <a:solidFill>
                  <a:srgbClr val="3B3066"/>
                </a:solidFill>
                <a:latin typeface="Calibri" pitchFamily="34" charset="0"/>
                <a:ea typeface="Calibri" pitchFamily="34" charset="-122"/>
                <a:cs typeface="Calibri" pitchFamily="34" charset="-120"/>
              </a:rPr>
              <a:t>Scaling design without slowing down</a:t>
            </a:r>
            <a:endParaRPr lang="en-US" sz="1000" dirty="0"/>
          </a:p>
        </p:txBody>
      </p:sp>
      <p:sp>
        <p:nvSpPr>
          <p:cNvPr id="37" name="Shape 35"/>
          <p:cNvSpPr/>
          <p:nvPr/>
        </p:nvSpPr>
        <p:spPr>
          <a:xfrm>
            <a:off x="3383280" y="4434840"/>
            <a:ext cx="8351215" cy="411480"/>
          </a:xfrm>
          <a:prstGeom prst="rect">
            <a:avLst/>
          </a:prstGeom>
          <a:solidFill>
            <a:srgbClr val="F5F4F0"/>
          </a:solidFill>
          <a:ln/>
        </p:spPr>
      </p:sp>
      <p:sp>
        <p:nvSpPr>
          <p:cNvPr id="38" name="Text 36"/>
          <p:cNvSpPr/>
          <p:nvPr/>
        </p:nvSpPr>
        <p:spPr>
          <a:xfrm>
            <a:off x="3520440" y="4434840"/>
            <a:ext cx="8214055" cy="41148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Small team, fast pace, high quality bar. That's my default setting.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E"/>
        </a:solidFill>
      </p:bgPr>
    </p:bg>
    <p:spTree>
      <p:nvGrpSpPr>
        <p:cNvPr id="1" name=""/>
        <p:cNvGrpSpPr/>
        <p:nvPr/>
      </p:nvGrpSpPr>
      <p:grpSpPr>
        <a:xfrm>
          <a:off x="0" y="0"/>
          <a:ext cx="0" cy="0"/>
          <a:chOff x="0" y="0"/>
          <a:chExt cx="0" cy="0"/>
        </a:xfrm>
      </p:grpSpPr>
      <p:pic>
        <p:nvPicPr>
          <p:cNvPr id="2" name="Image 0" descr="/Users/jacki/Documents/My-vault/My-projects/portfolio-2/public/about-jacki-headshot.png">    </p:cNvPr>
          <p:cNvPicPr>
            <a:picLocks noChangeAspect="1"/>
          </p:cNvPicPr>
          <p:nvPr/>
        </p:nvPicPr>
        <p:blipFill>
          <a:blip r:embed="rId1"/>
          <a:srcRect l="0" r="0" t="0" b="0"/>
          <a:stretch/>
        </p:blipFill>
        <p:spPr>
          <a:xfrm>
            <a:off x="5272888" y="914400"/>
            <a:ext cx="1645920" cy="1645920"/>
          </a:xfrm>
          <a:prstGeom prst="rect">
            <a:avLst/>
          </a:prstGeom>
        </p:spPr>
      </p:pic>
      <p:sp>
        <p:nvSpPr>
          <p:cNvPr id="3" name="Text 0"/>
          <p:cNvSpPr/>
          <p:nvPr/>
        </p:nvSpPr>
        <p:spPr>
          <a:xfrm>
            <a:off x="457200" y="2926080"/>
            <a:ext cx="11277295" cy="548640"/>
          </a:xfrm>
          <a:prstGeom prst="rect">
            <a:avLst/>
          </a:prstGeom>
          <a:noFill/>
          <a:ln/>
        </p:spPr>
        <p:txBody>
          <a:bodyPr wrap="square" rtlCol="0" anchor="ctr"/>
          <a:lstStyle/>
          <a:p>
            <a:pPr algn="ctr" indent="0" marL="0">
              <a:buNone/>
            </a:pPr>
            <a:r>
              <a:rPr lang="en-US" sz="2800" b="1" i="1" dirty="0">
                <a:solidFill>
                  <a:srgbClr val="FFFFFF"/>
                </a:solidFill>
                <a:latin typeface="Georgia" pitchFamily="34" charset="0"/>
                <a:ea typeface="Georgia" pitchFamily="34" charset="-122"/>
                <a:cs typeface="Georgia" pitchFamily="34" charset="-120"/>
              </a:rPr>
              <a:t>I came ready to get into the weeds.</a:t>
            </a:r>
            <a:endParaRPr lang="en-US" sz="2800" dirty="0"/>
          </a:p>
        </p:txBody>
      </p:sp>
      <p:sp>
        <p:nvSpPr>
          <p:cNvPr id="4" name="Text 1"/>
          <p:cNvSpPr/>
          <p:nvPr/>
        </p:nvSpPr>
        <p:spPr>
          <a:xfrm>
            <a:off x="457200" y="3840480"/>
            <a:ext cx="11277295" cy="365760"/>
          </a:xfrm>
          <a:prstGeom prst="rect">
            <a:avLst/>
          </a:prstGeom>
          <a:noFill/>
          <a:ln/>
        </p:spPr>
        <p:txBody>
          <a:bodyPr wrap="square" rtlCol="0" anchor="ctr"/>
          <a:lstStyle/>
          <a:p>
            <a:pPr algn="ctr" indent="0" marL="0">
              <a:buNone/>
            </a:pPr>
            <a:r>
              <a:rPr lang="en-US" sz="1800" dirty="0">
                <a:solidFill>
                  <a:srgbClr val="BBBBBB"/>
                </a:solidFill>
                <a:latin typeface="Calibri" pitchFamily="34" charset="0"/>
                <a:ea typeface="Calibri" pitchFamily="34" charset="-122"/>
                <a:cs typeface="Calibri" pitchFamily="34" charset="-120"/>
              </a:rPr>
              <a:t>Jacki Torres</a:t>
            </a:r>
            <a:endParaRPr lang="en-US" sz="1800" dirty="0"/>
          </a:p>
        </p:txBody>
      </p:sp>
      <p:sp>
        <p:nvSpPr>
          <p:cNvPr id="5" name="Text 2"/>
          <p:cNvSpPr/>
          <p:nvPr/>
        </p:nvSpPr>
        <p:spPr>
          <a:xfrm>
            <a:off x="457200" y="4206240"/>
            <a:ext cx="11277295" cy="274320"/>
          </a:xfrm>
          <a:prstGeom prst="rect">
            <a:avLst/>
          </a:prstGeom>
          <a:noFill/>
          <a:ln/>
        </p:spPr>
        <p:txBody>
          <a:bodyPr wrap="square" rtlCol="0" anchor="ctr"/>
          <a:lstStyle/>
          <a:p>
            <a:pPr algn="ctr" indent="0" marL="0">
              <a:buNone/>
            </a:pPr>
            <a:r>
              <a:rPr lang="en-US" sz="1300" dirty="0">
                <a:solidFill>
                  <a:srgbClr val="888888"/>
                </a:solidFill>
                <a:latin typeface="Calibri Light" pitchFamily="34" charset="0"/>
                <a:ea typeface="Calibri Light" pitchFamily="34" charset="-122"/>
                <a:cs typeface="Calibri Light" pitchFamily="34" charset="-120"/>
              </a:rPr>
              <a:t>hello@jackelinetorres.co</a:t>
            </a:r>
            <a:endParaRPr lang="en-US" sz="1300" dirty="0"/>
          </a:p>
        </p:txBody>
      </p:sp>
      <p:sp>
        <p:nvSpPr>
          <p:cNvPr id="6" name="Text 3"/>
          <p:cNvSpPr/>
          <p:nvPr/>
        </p:nvSpPr>
        <p:spPr>
          <a:xfrm>
            <a:off x="457200" y="4480560"/>
            <a:ext cx="11277295" cy="274320"/>
          </a:xfrm>
          <a:prstGeom prst="rect">
            <a:avLst/>
          </a:prstGeom>
          <a:noFill/>
          <a:ln/>
        </p:spPr>
        <p:txBody>
          <a:bodyPr wrap="square" rtlCol="0" anchor="ctr"/>
          <a:lstStyle/>
          <a:p>
            <a:pPr algn="ctr" indent="0" marL="0">
              <a:buNone/>
            </a:pPr>
            <a:r>
              <a:rPr lang="en-US" sz="1300" b="1" dirty="0">
                <a:solidFill>
                  <a:srgbClr val="AAAAAA"/>
                </a:solidFill>
                <a:latin typeface="Calibri" pitchFamily="34" charset="0"/>
                <a:ea typeface="Calibri" pitchFamily="34" charset="-122"/>
                <a:cs typeface="Calibri" pitchFamily="34" charset="-120"/>
              </a:rPr>
              <a:t>jackelinetorres.co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2026-05-26T06:02:35Z</dcterms:created>
  <dcterms:modified xsi:type="dcterms:W3CDTF">2026-05-26T06:02:35Z</dcterms:modified>
</cp:coreProperties>
</file>